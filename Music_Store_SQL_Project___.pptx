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60" r:id="rId6"/>
    <p:sldId id="261" r:id="rId7"/>
    <p:sldId id="262" r:id="rId8"/>
    <p:sldId id="263" r:id="rId9"/>
    <p:sldId id="264" r:id="rId10"/>
    <p:sldId id="265" r:id="rId11"/>
    <p:sldId id="266" r:id="rId12"/>
    <p:sldId id="267" r:id="rId13"/>
    <p:sldId id="268" r:id="rId14"/>
    <p:sldId id="269" r:id="rId15"/>
    <p:sldId id="270" r:id="rId16"/>
    <p:sldId id="271" r:id="rId17"/>
    <p:sldId id="259" r:id="rId18"/>
  </p:sldIdLst>
  <p:sldSz cx="12192000" cy="6858000"/>
  <p:notesSz cx="6858000" cy="9144000"/>
  <p:embeddedFontLst>
    <p:embeddedFont>
      <p:font typeface="Calibri" panose="020F0502020204030204"/>
      <p:regular r:id="rId22"/>
    </p:embeddedFont>
    <p:embeddedFont>
      <p:font typeface="Algerian" panose="04020705040A02060702" charset="0"/>
      <p:regular r:id="rId23"/>
    </p:embeddedFont>
    <p:embeddedFont>
      <p:font typeface="Malgun Gothic" panose="020B0503020000020004" charset="-127"/>
      <p:regular r:id="rId24"/>
    </p:embeddedFont>
    <p:embeddedFont>
      <p:font typeface="Microsoft YaHei" panose="020B0503020204020204" charset="-122"/>
      <p:regular r:id="rId25"/>
    </p:embeddedFont>
    <p:embeddedFont>
      <p:font typeface="Bahnschrift SemiLight" panose="020B0502040204020203" charset="0"/>
      <p:regular r:id="rId26"/>
    </p:embeddedFont>
    <p:embeddedFont>
      <p:font typeface="Ebrima" panose="02000000000000000000" charset="0"/>
      <p:regular r:id="rId27"/>
      <p:bold r:id="rId28"/>
    </p:embeddedFont>
    <p:embeddedFont>
      <p:font typeface="Libre Baskerville" panose="02000000000000000000"/>
      <p:regular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9" Type="http://schemas.openxmlformats.org/officeDocument/2006/relationships/font" Target="fonts/font8.fntdata"/><Relationship Id="rId28" Type="http://schemas.openxmlformats.org/officeDocument/2006/relationships/font" Target="fonts/font7.fntdata"/><Relationship Id="rId27" Type="http://schemas.openxmlformats.org/officeDocument/2006/relationships/font" Target="fonts/font6.fntdata"/><Relationship Id="rId26" Type="http://schemas.openxmlformats.org/officeDocument/2006/relationships/font" Target="fonts/font5.fntdata"/><Relationship Id="rId25" Type="http://schemas.openxmlformats.org/officeDocument/2006/relationships/font" Target="fonts/font4.fntdata"/><Relationship Id="rId24" Type="http://schemas.openxmlformats.org/officeDocument/2006/relationships/font" Target="fonts/font3.fntdata"/><Relationship Id="rId23" Type="http://schemas.openxmlformats.org/officeDocument/2006/relationships/font" Target="fonts/font2.fntdata"/><Relationship Id="rId22" Type="http://schemas.openxmlformats.org/officeDocument/2006/relationships/font" Target="fonts/font1.fntdata"/><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 name="Shape 2"/>
        <p:cNvGrpSpPr/>
        <p:nvPr/>
      </p:nvGrpSpPr>
      <p:grpSpPr>
        <a:xfrm>
          <a:off x="0" y="0"/>
          <a:ext cx="0" cy="0"/>
          <a:chOff x="0" y="0"/>
          <a:chExt cx="0" cy="0"/>
        </a:xfrm>
      </p:grpSpPr>
      <p:sp>
        <p:nvSpPr>
          <p:cNvPr id="3" name="Google Shape;3;n"/>
          <p:cNvSpPr txBox="1"/>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IN"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94" name="Shape 94"/>
        <p:cNvGrpSpPr/>
        <p:nvPr/>
      </p:nvGrpSpPr>
      <p:grpSpPr>
        <a:xfrm>
          <a:off x="0" y="0"/>
          <a:ext cx="0" cy="0"/>
          <a:chOff x="0" y="0"/>
          <a:chExt cx="0" cy="0"/>
        </a:xfrm>
      </p:grpSpPr>
      <p:sp>
        <p:nvSpPr>
          <p:cNvPr id="95" name="Google Shape;95;p1: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panose="020F0502020204030204"/>
              <a:buNone/>
            </a:pPr>
          </a:p>
        </p:txBody>
      </p:sp>
      <p:sp>
        <p:nvSpPr>
          <p:cNvPr id="96" name="Google Shape;96;p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0" name="Shape 100"/>
        <p:cNvGrpSpPr/>
        <p:nvPr/>
      </p:nvGrpSpPr>
      <p:grpSpPr>
        <a:xfrm>
          <a:off x="0" y="0"/>
          <a:ext cx="0" cy="0"/>
          <a:chOff x="0" y="0"/>
          <a:chExt cx="0" cy="0"/>
        </a:xfrm>
      </p:grpSpPr>
      <p:sp>
        <p:nvSpPr>
          <p:cNvPr id="101" name="Google Shape;101;p3: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02" name="Google Shape;102;p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2" name="Shape 112"/>
        <p:cNvGrpSpPr/>
        <p:nvPr/>
      </p:nvGrpSpPr>
      <p:grpSpPr>
        <a:xfrm>
          <a:off x="0" y="0"/>
          <a:ext cx="0" cy="0"/>
          <a:chOff x="0" y="0"/>
          <a:chExt cx="0" cy="0"/>
        </a:xfrm>
      </p:grpSpPr>
      <p:sp>
        <p:nvSpPr>
          <p:cNvPr id="113" name="Google Shape;113;p5: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p>
        </p:txBody>
      </p:sp>
      <p:sp>
        <p:nvSpPr>
          <p:cNvPr id="114" name="Google Shape;114;p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5" name="Shape 15"/>
        <p:cNvGrpSpPr/>
        <p:nvPr/>
      </p:nvGrpSpPr>
      <p:grpSpPr>
        <a:xfrm>
          <a:off x="0" y="0"/>
          <a:ext cx="0" cy="0"/>
          <a:chOff x="0" y="0"/>
          <a:chExt cx="0" cy="0"/>
        </a:xfrm>
      </p:grpSpPr>
      <p:sp>
        <p:nvSpPr>
          <p:cNvPr id="16" name="Google Shape;16;p7"/>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7"/>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7"/>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7"/>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20" name="Google Shape;20;p7"/>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21" name="Shape 21"/>
        <p:cNvGrpSpPr/>
        <p:nvPr/>
      </p:nvGrpSpPr>
      <p:grpSpPr>
        <a:xfrm>
          <a:off x="0" y="0"/>
          <a:ext cx="0" cy="0"/>
          <a:chOff x="0" y="0"/>
          <a:chExt cx="0" cy="0"/>
        </a:xfrm>
      </p:grpSpPr>
      <p:sp>
        <p:nvSpPr>
          <p:cNvPr id="22" name="Google Shape;22;p9"/>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9"/>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9"/>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25" name="Google Shape;25;p9"/>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26" name="Shape 26"/>
        <p:cNvGrpSpPr/>
        <p:nvPr/>
      </p:nvGrpSpPr>
      <p:grpSpPr>
        <a:xfrm>
          <a:off x="0" y="0"/>
          <a:ext cx="0" cy="0"/>
          <a:chOff x="0" y="0"/>
          <a:chExt cx="0" cy="0"/>
        </a:xfrm>
      </p:grpSpPr>
      <p:sp>
        <p:nvSpPr>
          <p:cNvPr id="27" name="Google Shape;27;p10"/>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0"/>
          <p:cNvSpPr txBox="1"/>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9" name="Google Shape;29;p10"/>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0"/>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0"/>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32" name="Google Shape;32;p10"/>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33" name="Shape 33"/>
        <p:cNvGrpSpPr/>
        <p:nvPr/>
      </p:nvGrpSpPr>
      <p:grpSpPr>
        <a:xfrm>
          <a:off x="0" y="0"/>
          <a:ext cx="0" cy="0"/>
          <a:chOff x="0" y="0"/>
          <a:chExt cx="0" cy="0"/>
        </a:xfrm>
      </p:grpSpPr>
      <p:sp>
        <p:nvSpPr>
          <p:cNvPr id="34" name="Google Shape;34;p8"/>
          <p:cNvSpPr txBox="1"/>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8"/>
          <p:cNvSpPr txBox="1"/>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6" name="Google Shape;36;p8"/>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8"/>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8"/>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39" name="Google Shape;39;p8"/>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40" name="Shape 40"/>
        <p:cNvGrpSpPr/>
        <p:nvPr/>
      </p:nvGrpSpPr>
      <p:grpSpPr>
        <a:xfrm>
          <a:off x="0" y="0"/>
          <a:ext cx="0" cy="0"/>
          <a:chOff x="0" y="0"/>
          <a:chExt cx="0" cy="0"/>
        </a:xfrm>
      </p:grpSpPr>
      <p:sp>
        <p:nvSpPr>
          <p:cNvPr id="41" name="Google Shape;41;p11"/>
          <p:cNvSpPr txBox="1"/>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1"/>
          <p:cNvSpPr txBox="1"/>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43" name="Google Shape;43;p11"/>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1"/>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11"/>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46" name="Google Shape;46;p11"/>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47" name="Shape 47"/>
        <p:cNvGrpSpPr/>
        <p:nvPr/>
      </p:nvGrpSpPr>
      <p:grpSpPr>
        <a:xfrm>
          <a:off x="0" y="0"/>
          <a:ext cx="0" cy="0"/>
          <a:chOff x="0" y="0"/>
          <a:chExt cx="0" cy="0"/>
        </a:xfrm>
      </p:grpSpPr>
      <p:sp>
        <p:nvSpPr>
          <p:cNvPr id="48" name="Google Shape;48;p12"/>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2"/>
          <p:cNvSpPr txBox="1"/>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0" name="Google Shape;50;p12"/>
          <p:cNvSpPr txBox="1"/>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1" name="Google Shape;51;p12"/>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2"/>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2"/>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54" name="Google Shape;54;p12"/>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55" name="Shape 55"/>
        <p:cNvGrpSpPr/>
        <p:nvPr/>
      </p:nvGrpSpPr>
      <p:grpSpPr>
        <a:xfrm>
          <a:off x="0" y="0"/>
          <a:ext cx="0" cy="0"/>
          <a:chOff x="0" y="0"/>
          <a:chExt cx="0" cy="0"/>
        </a:xfrm>
      </p:grpSpPr>
      <p:sp>
        <p:nvSpPr>
          <p:cNvPr id="56" name="Google Shape;56;p13"/>
          <p:cNvSpPr txBox="1"/>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3"/>
          <p:cNvSpPr txBox="1"/>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58" name="Google Shape;58;p13"/>
          <p:cNvSpPr txBox="1"/>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9" name="Google Shape;59;p13"/>
          <p:cNvSpPr txBox="1"/>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60" name="Google Shape;60;p13"/>
          <p:cNvSpPr txBox="1"/>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61" name="Google Shape;61;p13"/>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13"/>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3"/>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64" name="Google Shape;64;p13"/>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65" name="Shape 65"/>
        <p:cNvGrpSpPr/>
        <p:nvPr/>
      </p:nvGrpSpPr>
      <p:grpSpPr>
        <a:xfrm>
          <a:off x="0" y="0"/>
          <a:ext cx="0" cy="0"/>
          <a:chOff x="0" y="0"/>
          <a:chExt cx="0" cy="0"/>
        </a:xfrm>
      </p:grpSpPr>
      <p:sp>
        <p:nvSpPr>
          <p:cNvPr id="66" name="Google Shape;66;p14"/>
          <p:cNvSpPr txBox="1"/>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4"/>
          <p:cNvSpPr txBox="1"/>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68" name="Google Shape;68;p14"/>
          <p:cNvSpPr txBox="1"/>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9" name="Google Shape;69;p14"/>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4"/>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4"/>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72" name="Google Shape;72;p14"/>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73" name="Shape 73"/>
        <p:cNvGrpSpPr/>
        <p:nvPr/>
      </p:nvGrpSpPr>
      <p:grpSpPr>
        <a:xfrm>
          <a:off x="0" y="0"/>
          <a:ext cx="0" cy="0"/>
          <a:chOff x="0" y="0"/>
          <a:chExt cx="0" cy="0"/>
        </a:xfrm>
      </p:grpSpPr>
      <p:sp>
        <p:nvSpPr>
          <p:cNvPr id="74" name="Google Shape;74;p15"/>
          <p:cNvSpPr txBox="1"/>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5"/>
          <p:cNvSpPr/>
          <p:nvPr>
            <p:ph type="pic" idx="2"/>
          </p:nvPr>
        </p:nvSpPr>
        <p:spPr>
          <a:xfrm>
            <a:off x="5183188" y="987425"/>
            <a:ext cx="6172200" cy="4873625"/>
          </a:xfrm>
          <a:prstGeom prst="rect">
            <a:avLst/>
          </a:prstGeom>
          <a:noFill/>
          <a:ln>
            <a:noFill/>
          </a:ln>
        </p:spPr>
      </p:sp>
      <p:sp>
        <p:nvSpPr>
          <p:cNvPr id="76" name="Google Shape;76;p15"/>
          <p:cNvSpPr txBox="1"/>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77" name="Google Shape;77;p15"/>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5"/>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5"/>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80" name="Google Shape;80;p15"/>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81" name="Shape 81"/>
        <p:cNvGrpSpPr/>
        <p:nvPr/>
      </p:nvGrpSpPr>
      <p:grpSpPr>
        <a:xfrm>
          <a:off x="0" y="0"/>
          <a:ext cx="0" cy="0"/>
          <a:chOff x="0" y="0"/>
          <a:chExt cx="0" cy="0"/>
        </a:xfrm>
      </p:grpSpPr>
      <p:sp>
        <p:nvSpPr>
          <p:cNvPr id="82" name="Google Shape;82;p16"/>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6"/>
          <p:cNvSpPr txBox="1"/>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84" name="Google Shape;84;p16"/>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16"/>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16"/>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87" name="Google Shape;87;p16"/>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88" name="Shape 88"/>
        <p:cNvGrpSpPr/>
        <p:nvPr/>
      </p:nvGrpSpPr>
      <p:grpSpPr>
        <a:xfrm>
          <a:off x="0" y="0"/>
          <a:ext cx="0" cy="0"/>
          <a:chOff x="0" y="0"/>
          <a:chExt cx="0" cy="0"/>
        </a:xfrm>
      </p:grpSpPr>
      <p:sp>
        <p:nvSpPr>
          <p:cNvPr id="89" name="Google Shape;89;p17"/>
          <p:cNvSpPr txBox="1"/>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17"/>
          <p:cNvSpPr txBox="1"/>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91" name="Google Shape;91;p17"/>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17"/>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17"/>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9" name="Shape 9"/>
        <p:cNvGrpSpPr/>
        <p:nvPr/>
      </p:nvGrpSpPr>
      <p:grpSpPr>
        <a:xfrm>
          <a:off x="0" y="0"/>
          <a:ext cx="0" cy="0"/>
          <a:chOff x="0" y="0"/>
          <a:chExt cx="0" cy="0"/>
        </a:xfrm>
      </p:grpSpPr>
      <p:sp>
        <p:nvSpPr>
          <p:cNvPr id="10" name="Google Shape;10;p6"/>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11" name="Google Shape;11;p6"/>
          <p:cNvSpPr txBox="1"/>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2" name="Google Shape;12;p6"/>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3" name="Google Shape;13;p6"/>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4" name="Google Shape;14;p6"/>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97" name="Shape 97"/>
        <p:cNvGrpSpPr/>
        <p:nvPr/>
      </p:nvGrpSpPr>
      <p:grpSpPr>
        <a:xfrm>
          <a:off x="0" y="0"/>
          <a:ext cx="0" cy="0"/>
          <a:chOff x="0" y="0"/>
          <a:chExt cx="0" cy="0"/>
        </a:xfrm>
      </p:grpSpPr>
      <p:pic>
        <p:nvPicPr>
          <p:cNvPr id="98" name="Google Shape;98;p1"/>
          <p:cNvPicPr preferRelativeResize="0"/>
          <p:nvPr/>
        </p:nvPicPr>
        <p:blipFill rotWithShape="1">
          <a:blip r:embed="rId1"/>
          <a:srcRect/>
          <a:stretch>
            <a:fillRect/>
          </a:stretch>
        </p:blipFill>
        <p:spPr>
          <a:xfrm>
            <a:off x="592" y="0"/>
            <a:ext cx="12190815" cy="6694098"/>
          </a:xfrm>
          <a:prstGeom prst="rect">
            <a:avLst/>
          </a:prstGeom>
          <a:noFill/>
          <a:ln>
            <a:noFill/>
          </a:ln>
        </p:spPr>
      </p:pic>
      <p:sp>
        <p:nvSpPr>
          <p:cNvPr id="99" name="Google Shape;99;p1"/>
          <p:cNvSpPr txBox="1"/>
          <p:nvPr/>
        </p:nvSpPr>
        <p:spPr>
          <a:xfrm>
            <a:off x="2472904" y="3717986"/>
            <a:ext cx="7246189" cy="95186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IN" sz="2800" b="1">
                <a:solidFill>
                  <a:schemeClr val="tx1"/>
                </a:solidFill>
                <a:latin typeface="Algerian" panose="04020705040A02060702" charset="0"/>
                <a:ea typeface="Malgun Gothic" panose="020B0503020000020004" charset="-127"/>
                <a:cs typeface="Algerian" panose="04020705040A02060702" charset="0"/>
                <a:sym typeface="Arial" panose="020B0604020202020204"/>
              </a:rPr>
              <a:t>Music Store Data Analysis</a:t>
            </a:r>
            <a:endParaRPr lang="en-IN" sz="2800" b="1" u="none" strike="noStrike" cap="none">
              <a:solidFill>
                <a:schemeClr val="tx1"/>
              </a:solidFill>
              <a:latin typeface="Algerian" panose="04020705040A02060702" charset="0"/>
              <a:ea typeface="Malgun Gothic" panose="020B0503020000020004" charset="-127"/>
              <a:cs typeface="Algerian" panose="04020705040A02060702" charset="0"/>
              <a:sym typeface="Arial" panose="020B0604020202020204"/>
            </a:endParaRPr>
          </a:p>
          <a:p>
            <a:pPr marL="0" marR="0" lvl="0" indent="0" algn="ctr" rtl="0">
              <a:lnSpc>
                <a:spcPct val="100000"/>
              </a:lnSpc>
              <a:spcBef>
                <a:spcPts val="0"/>
              </a:spcBef>
              <a:spcAft>
                <a:spcPts val="0"/>
              </a:spcAft>
              <a:buClr>
                <a:srgbClr val="000000"/>
              </a:buClr>
              <a:buSzPts val="1800"/>
              <a:buFont typeface="Arial" panose="020B0604020202020204"/>
              <a:buNone/>
            </a:pPr>
            <a:endParaRPr sz="2800" b="1" u="none" strike="noStrike" cap="none">
              <a:solidFill>
                <a:srgbClr val="000000"/>
              </a:solidFill>
              <a:latin typeface="Algerian" panose="04020705040A02060702" charset="0"/>
              <a:ea typeface="Arial" panose="020B0604020202020204"/>
              <a:cs typeface="Algerian" panose="04020705040A02060702" charset="0"/>
              <a:sym typeface="Arial" panose="020B06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03" name="Shape 103"/>
        <p:cNvGrpSpPr/>
        <p:nvPr/>
      </p:nvGrpSpPr>
      <p:grpSpPr>
        <a:xfrm>
          <a:off x="0" y="0"/>
          <a:ext cx="0" cy="0"/>
          <a:chOff x="0" y="0"/>
          <a:chExt cx="0" cy="0"/>
        </a:xfrm>
      </p:grpSpPr>
      <p:sp>
        <p:nvSpPr>
          <p:cNvPr id="3" name="Text Box 2"/>
          <p:cNvSpPr txBox="1"/>
          <p:nvPr/>
        </p:nvSpPr>
        <p:spPr>
          <a:xfrm>
            <a:off x="584835" y="495935"/>
            <a:ext cx="6087745" cy="521970"/>
          </a:xfrm>
          <a:prstGeom prst="rect">
            <a:avLst/>
          </a:prstGeom>
          <a:noFill/>
        </p:spPr>
        <p:txBody>
          <a:bodyPr wrap="square" rtlCol="0">
            <a:spAutoFit/>
          </a:bodyPr>
          <a:p>
            <a:r>
              <a:rPr lang="en-US" altLang="en-US" sz="2800" b="1">
                <a:solidFill>
                  <a:srgbClr val="FF0000"/>
                </a:solidFill>
              </a:rPr>
              <a:t>About me</a:t>
            </a:r>
            <a:endParaRPr lang="en-US" altLang="en-US" sz="2800" b="1">
              <a:solidFill>
                <a:srgbClr val="FF0000"/>
              </a:solidFill>
            </a:endParaRPr>
          </a:p>
        </p:txBody>
      </p:sp>
      <p:sp>
        <p:nvSpPr>
          <p:cNvPr id="4" name="Text Box 3"/>
          <p:cNvSpPr txBox="1"/>
          <p:nvPr/>
        </p:nvSpPr>
        <p:spPr>
          <a:xfrm>
            <a:off x="418465" y="1183640"/>
            <a:ext cx="10570210" cy="4313555"/>
          </a:xfrm>
          <a:prstGeom prst="rect">
            <a:avLst/>
          </a:prstGeom>
        </p:spPr>
        <p:txBody>
          <a:bodyPr wrap="square">
            <a:noAutofit/>
            <a:extLst>
              <a:ext uri="{4A0BC546-FE56-4ADE-93B0-CB8AF2F6F144}">
                <wpsdc:textFrameExt xmlns:wpsdc="http://www.wps.cn/officeDocument/2022/drawingmlCustomData" type="text"/>
              </a:ext>
            </a:extLst>
          </a:bodyPr>
          <a:p>
            <a:pPr algn="l"/>
            <a:r>
              <a:rPr lang="en-US" altLang="en-US" sz="1800">
                <a:latin typeface="Arial" panose="020B0604020202020204" pitchFamily="34" charset="0"/>
                <a:ea typeface="Microsoft YaHei" panose="020B0503020204020204" charset="-122"/>
              </a:rPr>
              <a:t>I am Bevara Harika, a Bachelor of Science graduate in Computer Science. I have experience as a Technical Trainer at Coign Consultancy and am currently working as a Teaching Assistant at Sreenidhi University.</a:t>
            </a:r>
            <a:endParaRPr lang="en-US" altLang="en-US" sz="1800">
              <a:latin typeface="Arial" panose="020B0604020202020204" pitchFamily="34" charset="0"/>
              <a:ea typeface="Microsoft YaHei" panose="020B0503020204020204" charset="-122"/>
            </a:endParaRPr>
          </a:p>
          <a:p>
            <a:pPr algn="l"/>
            <a:endParaRPr lang="en-US" altLang="en-US" sz="1800">
              <a:latin typeface="Arial" panose="020B0604020202020204" pitchFamily="34" charset="0"/>
              <a:ea typeface="Microsoft YaHei" panose="020B0503020204020204" charset="-122"/>
            </a:endParaRPr>
          </a:p>
          <a:p>
            <a:pPr algn="l"/>
            <a:r>
              <a:rPr lang="en-US" altLang="en-US" sz="1800" b="1">
                <a:solidFill>
                  <a:srgbClr val="FF0000"/>
                </a:solidFill>
                <a:latin typeface="Arial" panose="020B0604020202020204" pitchFamily="34" charset="0"/>
                <a:ea typeface="Microsoft YaHei" panose="020B0503020204020204" charset="-122"/>
                <a:sym typeface="+mn-ea"/>
              </a:rPr>
              <a:t>Why Data Analyst?</a:t>
            </a:r>
            <a:endParaRPr lang="en-US" altLang="en-US" sz="1800" b="1">
              <a:solidFill>
                <a:srgbClr val="FF0000"/>
              </a:solidFill>
              <a:latin typeface="Arial" panose="020B0604020202020204" pitchFamily="34" charset="0"/>
              <a:ea typeface="Microsoft YaHei" panose="020B0503020204020204" charset="-122"/>
            </a:endParaRPr>
          </a:p>
          <a:p>
            <a:pPr algn="l"/>
            <a:endParaRPr lang="en-US" altLang="en-US" sz="1800">
              <a:latin typeface="Arial" panose="020B0604020202020204" pitchFamily="34" charset="0"/>
              <a:ea typeface="Microsoft YaHei" panose="020B0503020204020204" charset="-122"/>
            </a:endParaRPr>
          </a:p>
          <a:p>
            <a:pPr algn="l"/>
            <a:r>
              <a:rPr lang="en-US" altLang="en-US" sz="1800">
                <a:latin typeface="Arial" panose="020B0604020202020204" pitchFamily="34" charset="0"/>
                <a:ea typeface="Microsoft YaHei" panose="020B0503020204020204" charset="-122"/>
              </a:rPr>
              <a:t>• I have developed a deep interest in working with data because I enjoy problem-solving and finding patterns, which inspired me to build a career as a Data Analyst.</a:t>
            </a:r>
            <a:endParaRPr lang="en-US" altLang="en-US" sz="1800">
              <a:latin typeface="Arial" panose="020B0604020202020204" pitchFamily="34" charset="0"/>
              <a:ea typeface="Microsoft YaHei" panose="020B0503020204020204" charset="-122"/>
            </a:endParaRPr>
          </a:p>
          <a:p>
            <a:pPr algn="l"/>
            <a:endParaRPr lang="en-US" altLang="en-US" sz="1800">
              <a:latin typeface="Arial" panose="020B0604020202020204" pitchFamily="34" charset="0"/>
              <a:ea typeface="Microsoft YaHei" panose="020B0503020204020204" charset="-122"/>
            </a:endParaRPr>
          </a:p>
          <a:p>
            <a:pPr algn="l"/>
            <a:endParaRPr lang="en-US" altLang="en-US" sz="1800">
              <a:latin typeface="Arial" panose="020B0604020202020204" pitchFamily="34" charset="0"/>
              <a:ea typeface="Microsoft YaHei" panose="020B0503020204020204" charset="-122"/>
            </a:endParaRPr>
          </a:p>
          <a:p>
            <a:pPr algn="l"/>
            <a:r>
              <a:rPr lang="en-US" altLang="en-US" sz="1800" b="1">
                <a:solidFill>
                  <a:srgbClr val="FF0000"/>
                </a:solidFill>
                <a:latin typeface="Arial" panose="020B0604020202020204" pitchFamily="34" charset="0"/>
                <a:ea typeface="Microsoft YaHei" panose="020B0503020204020204" charset="-122"/>
              </a:rPr>
              <a:t>LinkedIn:  </a:t>
            </a:r>
            <a:r>
              <a:rPr lang="en-US" altLang="en-US" sz="1800" b="1">
                <a:solidFill>
                  <a:schemeClr val="accent1"/>
                </a:solidFill>
                <a:latin typeface="Arial" panose="020B0604020202020204" pitchFamily="34" charset="0"/>
                <a:ea typeface="Microsoft YaHei" panose="020B0503020204020204" charset="-122"/>
              </a:rPr>
              <a:t>https://www.linkedin.com/in/bevara-harika-647a42325/</a:t>
            </a:r>
            <a:endParaRPr lang="en-US" altLang="en-US" sz="1800" b="1">
              <a:solidFill>
                <a:schemeClr val="accent1"/>
              </a:solidFill>
              <a:latin typeface="Arial" panose="020B0604020202020204" pitchFamily="34" charset="0"/>
              <a:ea typeface="Microsoft YaHei" panose="020B0503020204020204" charset="-122"/>
            </a:endParaRPr>
          </a:p>
          <a:p>
            <a:pPr algn="l"/>
            <a:endParaRPr lang="en-US" altLang="en-US" sz="1800" b="1">
              <a:solidFill>
                <a:srgbClr val="FF0000"/>
              </a:solidFill>
              <a:latin typeface="Arial" panose="020B0604020202020204" pitchFamily="34" charset="0"/>
              <a:ea typeface="Microsoft YaHei" panose="020B0503020204020204" charset="-122"/>
            </a:endParaRPr>
          </a:p>
          <a:p>
            <a:pPr algn="l"/>
            <a:r>
              <a:rPr lang="en-US" altLang="en-US" sz="1800" b="1">
                <a:solidFill>
                  <a:srgbClr val="FF0000"/>
                </a:solidFill>
                <a:latin typeface="Arial" panose="020B0604020202020204" pitchFamily="34" charset="0"/>
                <a:ea typeface="Microsoft YaHei" panose="020B0503020204020204" charset="-122"/>
              </a:rPr>
              <a:t>GitHub: </a:t>
            </a:r>
            <a:r>
              <a:rPr lang="en-US" altLang="en-US" sz="1800" b="1">
                <a:solidFill>
                  <a:schemeClr val="accent1"/>
                </a:solidFill>
                <a:latin typeface="Arial" panose="020B0604020202020204" pitchFamily="34" charset="0"/>
                <a:ea typeface="Microsoft YaHei" panose="020B0503020204020204" charset="-122"/>
              </a:rPr>
              <a:t>https://github.com/bevaraharika5-stac</a:t>
            </a:r>
            <a:endParaRPr lang="en-US" altLang="en-US" sz="1800" b="1">
              <a:solidFill>
                <a:schemeClr val="accent1"/>
              </a:solidFill>
              <a:latin typeface="Arial" panose="020B0604020202020204" pitchFamily="34" charset="0"/>
              <a:ea typeface="Microsoft YaHei" panose="020B0503020204020204" charset="-122"/>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49275" y="344805"/>
            <a:ext cx="7461250" cy="876300"/>
          </a:xfrm>
          <a:prstGeom prst="rect">
            <a:avLst/>
          </a:prstGeom>
        </p:spPr>
        <p:txBody>
          <a:bodyPr wrap="square">
            <a:noAutofit/>
            <a:extLst>
              <a:ext uri="{4A0BC546-FE56-4ADE-93B0-CB8AF2F6F144}">
                <wpsdc:textFrameExt xmlns:wpsdc="http://www.wps.cn/officeDocument/2022/drawingmlCustomData" type="title"/>
              </a:ext>
            </a:extLst>
          </a:bodyPr>
          <a:p>
            <a:pPr algn="l"/>
            <a:r>
              <a:rPr lang="en-IN" altLang="en-US" sz="3200" b="1">
                <a:latin typeface="+mj-lt"/>
                <a:cs typeface="+mj-lt"/>
                <a:sym typeface="+mn-ea"/>
              </a:rPr>
              <a:t>Objective of the</a:t>
            </a:r>
            <a:r>
              <a:rPr lang="en-IN" altLang="en-US" sz="3200" b="1">
                <a:latin typeface="Bahnschrift SemiLight" panose="020B0502040204020203" charset="0"/>
                <a:cs typeface="Bahnschrift SemiLight" panose="020B0502040204020203" charset="0"/>
                <a:sym typeface="+mn-ea"/>
              </a:rPr>
              <a:t> </a:t>
            </a:r>
            <a:r>
              <a:rPr lang="en-IN" altLang="en-US" sz="3200" b="1">
                <a:solidFill>
                  <a:srgbClr val="E52328"/>
                </a:solidFill>
                <a:latin typeface="Arial" panose="020B0604020202020204" pitchFamily="34" charset="0"/>
                <a:cs typeface="Arial" panose="020B0604020202020204" pitchFamily="34" charset="0"/>
                <a:sym typeface="+mn-ea"/>
              </a:rPr>
              <a:t>Project</a:t>
            </a:r>
            <a:endParaRPr lang="en-IN" altLang="en-US" sz="3200" b="1">
              <a:solidFill>
                <a:srgbClr val="E52328"/>
              </a:solidFill>
              <a:latin typeface="Arial" panose="020B0604020202020204" pitchFamily="34" charset="0"/>
              <a:cs typeface="Arial" panose="020B0604020202020204" pitchFamily="34" charset="0"/>
            </a:endParaRPr>
          </a:p>
          <a:p>
            <a:pPr algn="l"/>
            <a:endParaRPr lang="en-US" sz="3200" b="1" spc="400">
              <a:latin typeface="Arial" panose="020B0604020202020204" pitchFamily="34" charset="0"/>
              <a:ea typeface="Microsoft YaHei" panose="020B0503020204020204" charset="-122"/>
            </a:endParaRPr>
          </a:p>
        </p:txBody>
      </p:sp>
      <p:sp>
        <p:nvSpPr>
          <p:cNvPr id="3" name="Text Box 2"/>
          <p:cNvSpPr txBox="1"/>
          <p:nvPr/>
        </p:nvSpPr>
        <p:spPr>
          <a:xfrm>
            <a:off x="471170" y="1123950"/>
            <a:ext cx="11153140" cy="4783455"/>
          </a:xfrm>
          <a:prstGeom prst="rect">
            <a:avLst/>
          </a:prstGeom>
        </p:spPr>
        <p:txBody>
          <a:bodyPr wrap="square">
            <a:noAutofit/>
            <a:extLst>
              <a:ext uri="{4A0BC546-FE56-4ADE-93B0-CB8AF2F6F144}">
                <wpsdc:textFrameExt xmlns:wpsdc="http://www.wps.cn/officeDocument/2022/drawingmlCustomData" type="text"/>
              </a:ext>
            </a:extLst>
          </a:bodyPr>
          <a:p>
            <a:pPr algn="l"/>
            <a:r>
              <a:rPr lang="en-US" altLang="en-US" sz="1800" b="1">
                <a:solidFill>
                  <a:srgbClr val="FF0000"/>
                </a:solidFill>
                <a:latin typeface="Arial" panose="020B0604020202020204" pitchFamily="34" charset="0"/>
                <a:ea typeface="Microsoft YaHei" panose="020B0503020204020204" charset="-122"/>
              </a:rPr>
              <a:t>Build a Strong Analytical Base</a:t>
            </a:r>
            <a:r>
              <a:rPr lang="en-US" altLang="en-US" sz="1800">
                <a:latin typeface="Arial" panose="020B0604020202020204" pitchFamily="34" charset="0"/>
                <a:ea typeface="Microsoft YaHei" panose="020B0503020204020204" charset="-122"/>
              </a:rPr>
              <a:t>: Create a fully structured, relational Music Store Database from raw CSV files, ensuring proper relationships and data integrity through constraints.</a:t>
            </a:r>
            <a:endParaRPr lang="en-US" altLang="en-US" sz="1800">
              <a:latin typeface="Arial" panose="020B0604020202020204" pitchFamily="34" charset="0"/>
              <a:ea typeface="Microsoft YaHei" panose="020B0503020204020204" charset="-122"/>
            </a:endParaRPr>
          </a:p>
          <a:p>
            <a:pPr algn="l"/>
            <a:endParaRPr lang="en-US" altLang="en-US" sz="1800">
              <a:latin typeface="Arial" panose="020B0604020202020204" pitchFamily="34" charset="0"/>
              <a:ea typeface="Microsoft YaHei" panose="020B0503020204020204" charset="-122"/>
            </a:endParaRPr>
          </a:p>
          <a:p>
            <a:pPr algn="l"/>
            <a:r>
              <a:rPr lang="en-US" altLang="en-US" sz="1800" b="1">
                <a:solidFill>
                  <a:srgbClr val="FF0000"/>
                </a:solidFill>
                <a:latin typeface="Arial" panose="020B0604020202020204" pitchFamily="34" charset="0"/>
                <a:ea typeface="Microsoft YaHei" panose="020B0503020204020204" charset="-122"/>
              </a:rPr>
              <a:t>Analyze Business Performance &amp; Trends:</a:t>
            </a:r>
            <a:r>
              <a:rPr lang="en-US" altLang="en-US" sz="1800">
                <a:latin typeface="Arial" panose="020B0604020202020204" pitchFamily="34" charset="0"/>
                <a:ea typeface="Microsoft YaHei" panose="020B0503020204020204" charset="-122"/>
              </a:rPr>
              <a:t> Use SQL aggregation functions such as SUM, COUNT, and AVG along with complex JOIN operations across 10+ tables to measure key performance metrics.</a:t>
            </a:r>
            <a:endParaRPr lang="en-US" altLang="en-US" sz="1800">
              <a:latin typeface="Arial" panose="020B0604020202020204" pitchFamily="34" charset="0"/>
              <a:ea typeface="Microsoft YaHei" panose="020B0503020204020204" charset="-122"/>
            </a:endParaRPr>
          </a:p>
          <a:p>
            <a:pPr algn="l"/>
            <a:endParaRPr lang="en-US" altLang="en-US" sz="1800">
              <a:latin typeface="Arial" panose="020B0604020202020204" pitchFamily="34" charset="0"/>
              <a:ea typeface="Microsoft YaHei" panose="020B0503020204020204" charset="-122"/>
            </a:endParaRPr>
          </a:p>
          <a:p>
            <a:pPr algn="l"/>
            <a:r>
              <a:rPr lang="en-US" altLang="en-US" sz="1800" b="1">
                <a:solidFill>
                  <a:srgbClr val="FF0000"/>
                </a:solidFill>
                <a:latin typeface="Arial" panose="020B0604020202020204" pitchFamily="34" charset="0"/>
                <a:ea typeface="Microsoft YaHei" panose="020B0503020204020204" charset="-122"/>
              </a:rPr>
              <a:t>Key Insights:</a:t>
            </a:r>
            <a:r>
              <a:rPr lang="en-US" altLang="en-US" sz="1800">
                <a:latin typeface="Arial" panose="020B0604020202020204" pitchFamily="34" charset="0"/>
                <a:ea typeface="Microsoft YaHei" panose="020B0503020204020204" charset="-122"/>
              </a:rPr>
              <a:t> Identify top-performing sales regions, determine the most valuable customer, and highlight leading artists and popular music genres.</a:t>
            </a:r>
            <a:endParaRPr lang="en-US" altLang="en-US" sz="1800">
              <a:latin typeface="Arial" panose="020B0604020202020204" pitchFamily="34" charset="0"/>
              <a:ea typeface="Microsoft YaHei" panose="020B0503020204020204" charset="-122"/>
            </a:endParaRPr>
          </a:p>
          <a:p>
            <a:pPr algn="l"/>
            <a:endParaRPr lang="en-US" altLang="en-US" sz="1800">
              <a:latin typeface="Arial" panose="020B0604020202020204" pitchFamily="34" charset="0"/>
              <a:ea typeface="Microsoft YaHei" panose="020B0503020204020204" charset="-122"/>
            </a:endParaRPr>
          </a:p>
          <a:p>
            <a:pPr algn="l"/>
            <a:r>
              <a:rPr lang="en-US" altLang="en-US" sz="1800" b="1">
                <a:solidFill>
                  <a:srgbClr val="FF0000"/>
                </a:solidFill>
                <a:latin typeface="Arial" panose="020B0604020202020204" pitchFamily="34" charset="0"/>
                <a:ea typeface="Microsoft YaHei" panose="020B0503020204020204" charset="-122"/>
              </a:rPr>
              <a:t>Generate Strategic Insights:</a:t>
            </a:r>
            <a:r>
              <a:rPr lang="en-US" altLang="en-US" sz="1800">
                <a:latin typeface="Arial" panose="020B0604020202020204" pitchFamily="34" charset="0"/>
                <a:ea typeface="Microsoft YaHei" panose="020B0503020204020204" charset="-122"/>
              </a:rPr>
              <a:t> Leverage advanced SQL concepts like Window Functions and Subqueries to solve complex analytical problems and extract meaningful, actionable insights.</a:t>
            </a:r>
            <a:endParaRPr lang="en-US" altLang="en-US" sz="1800">
              <a:latin typeface="Arial" panose="020B0604020202020204" pitchFamily="34" charset="0"/>
              <a:ea typeface="Microsoft YaHei" panose="020B0503020204020204" charset="-122"/>
            </a:endParaRPr>
          </a:p>
          <a:p>
            <a:pPr algn="l"/>
            <a:endParaRPr lang="en-US" altLang="en-US" sz="1800">
              <a:latin typeface="Arial" panose="020B0604020202020204" pitchFamily="34" charset="0"/>
              <a:ea typeface="Microsoft YaHei" panose="020B0503020204020204" charset="-122"/>
            </a:endParaRPr>
          </a:p>
          <a:p>
            <a:pPr algn="l"/>
            <a:r>
              <a:rPr lang="en-US" altLang="en-US" sz="1800" b="1">
                <a:solidFill>
                  <a:srgbClr val="FF0000"/>
                </a:solidFill>
                <a:latin typeface="Arial" panose="020B0604020202020204" pitchFamily="34" charset="0"/>
                <a:ea typeface="Microsoft YaHei" panose="020B0503020204020204" charset="-122"/>
              </a:rPr>
              <a:t>Develop a Data-Driven Strategy:</a:t>
            </a:r>
            <a:r>
              <a:rPr lang="en-US" altLang="en-US" sz="1800">
                <a:latin typeface="Arial" panose="020B0604020202020204" pitchFamily="34" charset="0"/>
                <a:ea typeface="Microsoft YaHei" panose="020B0503020204020204" charset="-122"/>
              </a:rPr>
              <a:t> Provide clear and practical recommendations for long-term inventory planning and targeted regional marketing, based on analyzed customer behavior and sales trends.</a:t>
            </a:r>
            <a:endParaRPr lang="en-US" sz="1800">
              <a:latin typeface="Arial" panose="020B0604020202020204" pitchFamily="34" charset="0"/>
              <a:ea typeface="Microsoft YaHei" panose="020B050302020402020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55905" y="163195"/>
            <a:ext cx="9297670" cy="461645"/>
          </a:xfrm>
          <a:prstGeom prst="rect">
            <a:avLst/>
          </a:prstGeom>
          <a:noFill/>
        </p:spPr>
        <p:txBody>
          <a:bodyPr wrap="square" rtlCol="0">
            <a:noAutofit/>
          </a:bodyPr>
          <a:p>
            <a:r>
              <a:rPr lang="en-IN" altLang="en-US" sz="3200" b="1">
                <a:latin typeface="+mj-lt"/>
                <a:cs typeface="+mj-lt"/>
                <a:sym typeface="+mn-ea"/>
              </a:rPr>
              <a:t>ER Diagram and </a:t>
            </a:r>
            <a:r>
              <a:rPr lang="en-IN" altLang="en-US" sz="3200" b="1">
                <a:solidFill>
                  <a:srgbClr val="E52328"/>
                </a:solidFill>
                <a:latin typeface="+mj-lt"/>
                <a:cs typeface="+mj-lt"/>
                <a:sym typeface="+mn-ea"/>
              </a:rPr>
              <a:t>Schema Explanation</a:t>
            </a:r>
            <a:r>
              <a:rPr lang="en-IN" altLang="en-US" sz="3200" b="1">
                <a:latin typeface="+mj-lt"/>
                <a:cs typeface="+mj-lt"/>
                <a:sym typeface="+mn-ea"/>
              </a:rPr>
              <a:t> </a:t>
            </a:r>
            <a:endParaRPr lang="en-IN" altLang="en-US" sz="3200" b="1">
              <a:solidFill>
                <a:srgbClr val="E52328"/>
              </a:solidFill>
              <a:latin typeface="Arial" panose="020B0604020202020204" pitchFamily="34" charset="0"/>
              <a:cs typeface="Arial" panose="020B0604020202020204" pitchFamily="34" charset="0"/>
            </a:endParaRPr>
          </a:p>
          <a:p>
            <a:endParaRPr lang="en-US" sz="3200"/>
          </a:p>
        </p:txBody>
      </p:sp>
      <p:pic>
        <p:nvPicPr>
          <p:cNvPr id="3" name="Picture 2" descr="EER_Diagram"/>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6133465" y="758190"/>
            <a:ext cx="5452110" cy="5262245"/>
          </a:xfrm>
          <a:prstGeom prst="rect">
            <a:avLst/>
          </a:prstGeom>
        </p:spPr>
      </p:pic>
      <p:sp>
        <p:nvSpPr>
          <p:cNvPr id="4" name="Text Box 3"/>
          <p:cNvSpPr txBox="1"/>
          <p:nvPr/>
        </p:nvSpPr>
        <p:spPr>
          <a:xfrm>
            <a:off x="501015" y="1012190"/>
            <a:ext cx="5450840" cy="5008880"/>
          </a:xfrm>
          <a:prstGeom prst="rect">
            <a:avLst/>
          </a:prstGeom>
          <a:noFill/>
        </p:spPr>
        <p:txBody>
          <a:bodyPr wrap="square" rtlCol="0">
            <a:noAutofit/>
          </a:bodyPr>
          <a:p>
            <a:r>
              <a:rPr lang="en-US" altLang="en-US"/>
              <a:t>The project was developed using a fully structured</a:t>
            </a:r>
            <a:r>
              <a:rPr lang="en-US" altLang="en-US">
                <a:solidFill>
                  <a:srgbClr val="FF0000"/>
                </a:solidFill>
              </a:rPr>
              <a:t> Relational Database Management System (RDBMS)</a:t>
            </a:r>
            <a:r>
              <a:rPr lang="en-US" altLang="en-US"/>
              <a:t>, containing 11 main tables such as Invoice, Customer, Track, and Artist.</a:t>
            </a:r>
            <a:endParaRPr lang="en-US" altLang="en-US"/>
          </a:p>
          <a:p>
            <a:endParaRPr lang="en-US" altLang="en-US"/>
          </a:p>
          <a:p>
            <a:r>
              <a:rPr lang="en-US" altLang="en-US"/>
              <a:t>The database design is divided into clear business segments:</a:t>
            </a:r>
            <a:endParaRPr lang="en-US" altLang="en-US"/>
          </a:p>
          <a:p>
            <a:endParaRPr lang="en-US" altLang="en-US"/>
          </a:p>
          <a:p>
            <a:r>
              <a:rPr lang="en-US" altLang="en-US">
                <a:solidFill>
                  <a:srgbClr val="FF0000"/>
                </a:solidFill>
              </a:rPr>
              <a:t>Sales </a:t>
            </a:r>
            <a:r>
              <a:rPr lang="en-US" altLang="en-US"/>
              <a:t>(Invoice, InvoiceLine)</a:t>
            </a:r>
            <a:endParaRPr lang="en-US" altLang="en-US"/>
          </a:p>
          <a:p>
            <a:r>
              <a:rPr lang="en-US" altLang="en-US">
                <a:solidFill>
                  <a:srgbClr val="FF0000"/>
                </a:solidFill>
              </a:rPr>
              <a:t>Inventory</a:t>
            </a:r>
            <a:r>
              <a:rPr lang="en-US" altLang="en-US"/>
              <a:t> (Track, Album, Genre)</a:t>
            </a:r>
            <a:endParaRPr lang="en-US" altLang="en-US"/>
          </a:p>
          <a:p>
            <a:r>
              <a:rPr lang="en-US" altLang="en-US">
                <a:solidFill>
                  <a:srgbClr val="FF0000"/>
                </a:solidFill>
              </a:rPr>
              <a:t>Personnel </a:t>
            </a:r>
            <a:r>
              <a:rPr lang="en-US" altLang="en-US"/>
              <a:t>(Employee, Customer)</a:t>
            </a:r>
            <a:endParaRPr lang="en-US" altLang="en-US"/>
          </a:p>
          <a:p>
            <a:endParaRPr lang="en-US" altLang="en-US"/>
          </a:p>
          <a:p>
            <a:r>
              <a:rPr lang="en-US" altLang="en-US"/>
              <a:t>Each table is properly linked using Primary Keys (PK) and Foreign Keys (FK), maintaining strong data consistency across Sales, Inventory, and Personnel modules.</a:t>
            </a:r>
            <a:endParaRPr lang="en-US" altLang="en-US"/>
          </a:p>
          <a:p>
            <a:endParaRPr lang="en-US" altLang="en-US"/>
          </a:p>
          <a:p>
            <a:r>
              <a:rPr lang="en-US" altLang="en-US"/>
              <a:t>Data validation was carefully performed to ensure correct data types and to eliminate orphan records, meaning every InvoiceLine is correctly associated with an existing Invoice and a valid Track.</a:t>
            </a:r>
            <a:endParaRPr lang="en-US"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52755" y="163195"/>
            <a:ext cx="5354955" cy="798830"/>
          </a:xfrm>
          <a:prstGeom prst="rect">
            <a:avLst/>
          </a:prstGeom>
          <a:noFill/>
        </p:spPr>
        <p:txBody>
          <a:bodyPr wrap="square" rtlCol="0">
            <a:spAutoFit/>
          </a:bodyPr>
          <a:p>
            <a:r>
              <a:rPr lang="en-IN" sz="3200" b="1">
                <a:sym typeface="+mn-ea"/>
              </a:rPr>
              <a:t>SQL query </a:t>
            </a:r>
            <a:r>
              <a:rPr lang="en-IN" sz="3200" b="1">
                <a:solidFill>
                  <a:srgbClr val="E52328"/>
                </a:solidFill>
                <a:sym typeface="+mn-ea"/>
              </a:rPr>
              <a:t>results</a:t>
            </a:r>
            <a:endParaRPr lang="en-IN" altLang="en-US" b="1">
              <a:solidFill>
                <a:srgbClr val="E52328"/>
              </a:solidFill>
              <a:latin typeface="Arial" panose="020B0604020202020204" pitchFamily="34" charset="0"/>
              <a:cs typeface="Arial" panose="020B0604020202020204" pitchFamily="34" charset="0"/>
              <a:sym typeface="+mn-ea"/>
            </a:endParaRPr>
          </a:p>
          <a:p>
            <a:endParaRPr lang="en-US"/>
          </a:p>
        </p:txBody>
      </p:sp>
      <p:sp>
        <p:nvSpPr>
          <p:cNvPr id="3" name="Text Box 2"/>
          <p:cNvSpPr txBox="1"/>
          <p:nvPr/>
        </p:nvSpPr>
        <p:spPr>
          <a:xfrm>
            <a:off x="694055" y="954405"/>
            <a:ext cx="8905240" cy="829945"/>
          </a:xfrm>
          <a:prstGeom prst="rect">
            <a:avLst/>
          </a:prstGeom>
          <a:noFill/>
        </p:spPr>
        <p:txBody>
          <a:bodyPr wrap="square" rtlCol="0">
            <a:spAutoFit/>
          </a:bodyPr>
          <a:p>
            <a:r>
              <a:rPr lang="en-US" altLang="en-US" sz="2400" b="1">
                <a:solidFill>
                  <a:srgbClr val="E52328"/>
                </a:solidFill>
                <a:latin typeface="Ebrima" panose="02000000000000000000" charset="0"/>
                <a:cs typeface="Ebrima" panose="02000000000000000000" charset="0"/>
                <a:sym typeface="+mn-ea"/>
              </a:rPr>
              <a:t>Q1.</a:t>
            </a:r>
            <a:r>
              <a:rPr lang="en-US" altLang="en-US" sz="2400" b="1">
                <a:latin typeface="Ebrima" panose="02000000000000000000" charset="0"/>
                <a:cs typeface="Ebrima" panose="02000000000000000000" charset="0"/>
                <a:sym typeface="+mn-ea"/>
              </a:rPr>
              <a:t> Who is the senior most employee based on job title?</a:t>
            </a:r>
            <a:endParaRPr lang="en-US" altLang="en-US" sz="2400" b="1">
              <a:latin typeface="Ebrima" panose="02000000000000000000" charset="0"/>
              <a:cs typeface="Ebrima" panose="02000000000000000000" charset="0"/>
            </a:endParaRPr>
          </a:p>
          <a:p>
            <a:endParaRPr lang="en-US" sz="2400"/>
          </a:p>
        </p:txBody>
      </p:sp>
      <p:pic>
        <p:nvPicPr>
          <p:cNvPr id="9" name="Picture 8"/>
          <p:cNvPicPr>
            <a:picLocks noChangeAspect="1"/>
          </p:cNvPicPr>
          <p:nvPr/>
        </p:nvPicPr>
        <p:blipFill>
          <a:blip r:embed="rId1"/>
          <a:stretch>
            <a:fillRect/>
          </a:stretch>
        </p:blipFill>
        <p:spPr>
          <a:xfrm>
            <a:off x="408305" y="1628140"/>
            <a:ext cx="5421630" cy="2914650"/>
          </a:xfrm>
          <a:prstGeom prst="rect">
            <a:avLst/>
          </a:prstGeom>
        </p:spPr>
      </p:pic>
      <p:sp>
        <p:nvSpPr>
          <p:cNvPr id="4" name="Text Box 3"/>
          <p:cNvSpPr txBox="1"/>
          <p:nvPr/>
        </p:nvSpPr>
        <p:spPr>
          <a:xfrm>
            <a:off x="324485" y="3710940"/>
            <a:ext cx="10537190" cy="2494915"/>
          </a:xfrm>
          <a:prstGeom prst="rect">
            <a:avLst/>
          </a:prstGeom>
          <a:noFill/>
        </p:spPr>
        <p:txBody>
          <a:bodyPr wrap="square" rtlCol="0">
            <a:noAutofit/>
          </a:bodyPr>
          <a:p>
            <a:r>
              <a:rPr lang="en-US" altLang="en-US" sz="2400" b="1">
                <a:solidFill>
                  <a:srgbClr val="FF0000"/>
                </a:solidFill>
              </a:rPr>
              <a:t>Insights</a:t>
            </a:r>
            <a:endParaRPr lang="en-US" altLang="en-US" sz="2400" b="1">
              <a:solidFill>
                <a:srgbClr val="FF0000"/>
              </a:solidFill>
            </a:endParaRPr>
          </a:p>
          <a:p>
            <a:endParaRPr lang="en-US" altLang="en-US"/>
          </a:p>
          <a:p>
            <a:r>
              <a:rPr lang="en-US" altLang="en-US" sz="2000" b="1">
                <a:solidFill>
                  <a:srgbClr val="FF0000"/>
                </a:solidFill>
              </a:rPr>
              <a:t>Key Finding</a:t>
            </a:r>
            <a:r>
              <a:rPr lang="en-US" altLang="en-US" b="1"/>
              <a:t>:</a:t>
            </a:r>
            <a:r>
              <a:rPr lang="en-US" altLang="en-US" sz="1800"/>
              <a:t> Mohan Madan is the most experienced employee, based on both his job title and earliest hire date.</a:t>
            </a:r>
            <a:endParaRPr lang="en-US" altLang="en-US" sz="1800"/>
          </a:p>
          <a:p>
            <a:endParaRPr lang="en-US" altLang="en-US"/>
          </a:p>
          <a:p>
            <a:r>
              <a:rPr lang="en-US" altLang="en-US" sz="2000" b="1">
                <a:solidFill>
                  <a:srgbClr val="FF0000"/>
                </a:solidFill>
              </a:rPr>
              <a:t>Business Impact: </a:t>
            </a:r>
            <a:r>
              <a:rPr lang="en-US" altLang="en-US" sz="1800"/>
              <a:t>His experience can be effectively utilized for mentoring and guiding new employees. Additionally, his long tenure indicates strong reliability, making him a suitable candidate for senior leadership and decision-making roles.</a:t>
            </a:r>
            <a:endParaRPr lang="en-US" altLang="en-US" sz="18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07060" y="394970"/>
            <a:ext cx="8026400" cy="1398270"/>
          </a:xfrm>
          <a:prstGeom prst="rect">
            <a:avLst/>
          </a:prstGeom>
          <a:noFill/>
        </p:spPr>
        <p:txBody>
          <a:bodyPr wrap="square" rtlCol="0">
            <a:noAutofit/>
          </a:bodyPr>
          <a:p>
            <a:pPr>
              <a:lnSpc>
                <a:spcPct val="110000"/>
              </a:lnSpc>
            </a:pPr>
            <a:r>
              <a:rPr lang="en-US" altLang="en-US" b="1">
                <a:solidFill>
                  <a:srgbClr val="E52328"/>
                </a:solidFill>
                <a:latin typeface="Ebrima" panose="02000000000000000000" charset="0"/>
                <a:cs typeface="Ebrima" panose="02000000000000000000" charset="0"/>
                <a:sym typeface="+mn-ea"/>
              </a:rPr>
              <a:t>Q5. Who is the best customer?</a:t>
            </a:r>
            <a:r>
              <a:rPr lang="en-US" altLang="en-US" b="1">
                <a:latin typeface="Ebrima" panose="02000000000000000000" charset="0"/>
                <a:cs typeface="Ebrima" panose="02000000000000000000" charset="0"/>
                <a:sym typeface="+mn-ea"/>
              </a:rPr>
              <a:t> </a:t>
            </a:r>
            <a:endParaRPr lang="en-US" altLang="en-US" b="1">
              <a:latin typeface="Ebrima" panose="02000000000000000000" charset="0"/>
              <a:cs typeface="Ebrima" panose="02000000000000000000" charset="0"/>
            </a:endParaRPr>
          </a:p>
          <a:p>
            <a:pPr marL="285750" indent="-285750">
              <a:lnSpc>
                <a:spcPct val="110000"/>
              </a:lnSpc>
              <a:buFont typeface="Arial" panose="020B0604020202020204" pitchFamily="34" charset="0"/>
              <a:buChar char="•"/>
            </a:pPr>
            <a:r>
              <a:rPr lang="en-US" altLang="en-US" b="1">
                <a:latin typeface="Ebrima" panose="02000000000000000000" charset="0"/>
                <a:cs typeface="Ebrima" panose="02000000000000000000" charset="0"/>
                <a:sym typeface="+mn-ea"/>
              </a:rPr>
              <a:t>The customer who has spent the most money will be declared the best customer.</a:t>
            </a:r>
            <a:endParaRPr lang="en-US" altLang="en-US" b="1">
              <a:latin typeface="Ebrima" panose="02000000000000000000" charset="0"/>
              <a:cs typeface="Ebrima" panose="02000000000000000000" charset="0"/>
            </a:endParaRPr>
          </a:p>
          <a:p>
            <a:pPr marL="285750" indent="-285750">
              <a:lnSpc>
                <a:spcPct val="110000"/>
              </a:lnSpc>
              <a:buFont typeface="Arial" panose="020B0604020202020204" pitchFamily="34" charset="0"/>
              <a:buChar char="•"/>
            </a:pPr>
            <a:r>
              <a:rPr lang="en-US" altLang="en-US" b="1">
                <a:latin typeface="Ebrima" panose="02000000000000000000" charset="0"/>
                <a:cs typeface="Ebrima" panose="02000000000000000000" charset="0"/>
                <a:sym typeface="+mn-ea"/>
              </a:rPr>
              <a:t>Write a query that returns the person who has spent the most money</a:t>
            </a:r>
            <a:endParaRPr lang="en-US" altLang="en-US" b="1">
              <a:latin typeface="Ebrima" panose="02000000000000000000" charset="0"/>
              <a:cs typeface="Ebrima" panose="02000000000000000000" charset="0"/>
            </a:endParaRPr>
          </a:p>
          <a:p>
            <a:endParaRPr lang="en-US"/>
          </a:p>
        </p:txBody>
      </p:sp>
      <p:pic>
        <p:nvPicPr>
          <p:cNvPr id="3" name="Picture 2"/>
          <p:cNvPicPr>
            <a:picLocks noChangeAspect="1"/>
          </p:cNvPicPr>
          <p:nvPr/>
        </p:nvPicPr>
        <p:blipFill>
          <a:blip r:embed="rId1"/>
          <a:srcRect b="13596"/>
          <a:stretch>
            <a:fillRect/>
          </a:stretch>
        </p:blipFill>
        <p:spPr>
          <a:xfrm>
            <a:off x="695960" y="1628775"/>
            <a:ext cx="5953760" cy="3061970"/>
          </a:xfrm>
          <a:prstGeom prst="rect">
            <a:avLst/>
          </a:prstGeom>
        </p:spPr>
      </p:pic>
      <p:sp>
        <p:nvSpPr>
          <p:cNvPr id="4" name="Text Box 3"/>
          <p:cNvSpPr txBox="1"/>
          <p:nvPr/>
        </p:nvSpPr>
        <p:spPr>
          <a:xfrm>
            <a:off x="419100" y="4470400"/>
            <a:ext cx="8484235" cy="1880870"/>
          </a:xfrm>
          <a:prstGeom prst="rect">
            <a:avLst/>
          </a:prstGeom>
          <a:noFill/>
        </p:spPr>
        <p:txBody>
          <a:bodyPr wrap="square" rtlCol="0">
            <a:noAutofit/>
          </a:bodyPr>
          <a:p>
            <a:r>
              <a:rPr lang="en-US" altLang="en-US" sz="1800" b="1">
                <a:solidFill>
                  <a:srgbClr val="FF0000"/>
                </a:solidFill>
              </a:rPr>
              <a:t>Insights</a:t>
            </a:r>
            <a:endParaRPr lang="en-US" altLang="en-US" sz="1800" b="1">
              <a:solidFill>
                <a:srgbClr val="FF0000"/>
              </a:solidFill>
            </a:endParaRPr>
          </a:p>
          <a:p>
            <a:endParaRPr lang="en-US" altLang="en-US"/>
          </a:p>
          <a:p>
            <a:r>
              <a:rPr lang="en-US" altLang="en-US" sz="1600" b="1">
                <a:solidFill>
                  <a:srgbClr val="FF0000"/>
                </a:solidFill>
              </a:rPr>
              <a:t>Key Finding:</a:t>
            </a:r>
            <a:r>
              <a:rPr lang="en-US" altLang="en-US"/>
              <a:t> </a:t>
            </a:r>
            <a:r>
              <a:rPr lang="en-US" altLang="en-US" sz="1800"/>
              <a:t>Franti</a:t>
            </a:r>
            <a:r>
              <a:rPr lang="en-US" altLang="en-US" sz="1800"/>
              <a:t>š</a:t>
            </a:r>
            <a:r>
              <a:rPr lang="en-US" altLang="en-US" sz="1800"/>
              <a:t>ek Wichterlová stands out as the top-value customer.</a:t>
            </a:r>
            <a:endParaRPr lang="en-US" altLang="en-US" sz="1800"/>
          </a:p>
          <a:p>
            <a:endParaRPr lang="en-US" altLang="en-US"/>
          </a:p>
          <a:p>
            <a:r>
              <a:rPr lang="en-US" altLang="en-US" sz="1600" b="1">
                <a:solidFill>
                  <a:srgbClr val="FF0000"/>
                </a:solidFill>
              </a:rPr>
              <a:t>Data Context:</a:t>
            </a:r>
            <a:r>
              <a:rPr lang="en-US" altLang="en-US"/>
              <a:t> </a:t>
            </a:r>
            <a:r>
              <a:rPr lang="en-US" altLang="en-US" sz="1800"/>
              <a:t>With a total spending of $144.54, his contribution is significantly higher than that of the average customer, highlighting his importance to overall revenue.</a:t>
            </a:r>
            <a:endParaRPr lang="en-US" altLang="en-US" sz="18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81330" y="375920"/>
            <a:ext cx="11375390" cy="1600200"/>
          </a:xfrm>
          <a:prstGeom prst="rect">
            <a:avLst/>
          </a:prstGeom>
        </p:spPr>
        <p:txBody>
          <a:bodyPr wrap="square">
            <a:noAutofit/>
            <a:extLst>
              <a:ext uri="{4A0BC546-FE56-4ADE-93B0-CB8AF2F6F144}">
                <wpsdc:textFrameExt xmlns:wpsdc="http://www.wps.cn/officeDocument/2022/drawingmlCustomData" type="text"/>
              </a:ext>
            </a:extLst>
          </a:bodyPr>
          <a:p>
            <a:pPr>
              <a:lnSpc>
                <a:spcPct val="110000"/>
              </a:lnSpc>
            </a:pPr>
            <a:r>
              <a:rPr lang="en-US" altLang="en-US" sz="1800" b="1">
                <a:solidFill>
                  <a:srgbClr val="E52328"/>
                </a:solidFill>
                <a:latin typeface="Ebrima" panose="02000000000000000000" charset="0"/>
                <a:cs typeface="Ebrima" panose="02000000000000000000" charset="0"/>
                <a:sym typeface="+mn-ea"/>
              </a:rPr>
              <a:t>Q4. Which city has the best customers? </a:t>
            </a:r>
            <a:endParaRPr lang="en-US" altLang="en-US" sz="1800" b="1">
              <a:latin typeface="Ebrima" panose="02000000000000000000" charset="0"/>
              <a:cs typeface="Ebrima" panose="02000000000000000000" charset="0"/>
            </a:endParaRPr>
          </a:p>
          <a:p>
            <a:pPr marL="285750" indent="-285750">
              <a:lnSpc>
                <a:spcPct val="110000"/>
              </a:lnSpc>
              <a:buFont typeface="Arial" panose="020B0604020202020204" pitchFamily="34" charset="0"/>
              <a:buChar char="•"/>
            </a:pPr>
            <a:r>
              <a:rPr lang="en-US" altLang="en-US" sz="1800" b="1">
                <a:latin typeface="Ebrima" panose="02000000000000000000" charset="0"/>
                <a:cs typeface="Ebrima" panose="02000000000000000000" charset="0"/>
                <a:sym typeface="+mn-ea"/>
              </a:rPr>
              <a:t>We would like to throw a promotional Music Festival in the city we made the most money. </a:t>
            </a:r>
            <a:endParaRPr lang="en-US" altLang="en-US" sz="1800" b="1">
              <a:latin typeface="Ebrima" panose="02000000000000000000" charset="0"/>
              <a:cs typeface="Ebrima" panose="02000000000000000000" charset="0"/>
            </a:endParaRPr>
          </a:p>
          <a:p>
            <a:pPr marL="285750" indent="-285750">
              <a:lnSpc>
                <a:spcPct val="110000"/>
              </a:lnSpc>
              <a:buFont typeface="Arial" panose="020B0604020202020204" pitchFamily="34" charset="0"/>
              <a:buChar char="•"/>
            </a:pPr>
            <a:r>
              <a:rPr lang="en-US" altLang="en-US" sz="1800" b="1">
                <a:latin typeface="Ebrima" panose="02000000000000000000" charset="0"/>
                <a:cs typeface="Ebrima" panose="02000000000000000000" charset="0"/>
                <a:sym typeface="+mn-ea"/>
              </a:rPr>
              <a:t> Write a query that returns one city that has the highest sum of invoice totals. Return both the city name &amp; sum of all invoice totals</a:t>
            </a:r>
            <a:endParaRPr lang="en-US" altLang="en-US" sz="1800" b="1">
              <a:latin typeface="Ebrima" panose="02000000000000000000" charset="0"/>
              <a:cs typeface="Ebrima" panose="02000000000000000000" charset="0"/>
            </a:endParaRPr>
          </a:p>
          <a:p>
            <a:pPr algn="l"/>
            <a:endParaRPr lang="en-US" sz="1800">
              <a:latin typeface="Arial" panose="020B0604020202020204" pitchFamily="34" charset="0"/>
              <a:ea typeface="Microsoft YaHei" panose="020B0503020204020204" charset="-122"/>
            </a:endParaRPr>
          </a:p>
        </p:txBody>
      </p:sp>
      <p:pic>
        <p:nvPicPr>
          <p:cNvPr id="4" name="Picture 3"/>
          <p:cNvPicPr>
            <a:picLocks noChangeAspect="1"/>
          </p:cNvPicPr>
          <p:nvPr/>
        </p:nvPicPr>
        <p:blipFill>
          <a:blip r:embed="rId1"/>
          <a:srcRect b="15025"/>
          <a:stretch>
            <a:fillRect/>
          </a:stretch>
        </p:blipFill>
        <p:spPr>
          <a:xfrm>
            <a:off x="767715" y="1940560"/>
            <a:ext cx="5396230" cy="3119120"/>
          </a:xfrm>
          <a:prstGeom prst="rect">
            <a:avLst/>
          </a:prstGeom>
        </p:spPr>
      </p:pic>
      <p:sp>
        <p:nvSpPr>
          <p:cNvPr id="5" name="Text Box 4"/>
          <p:cNvSpPr txBox="1"/>
          <p:nvPr/>
        </p:nvSpPr>
        <p:spPr>
          <a:xfrm>
            <a:off x="6550660" y="1835785"/>
            <a:ext cx="5162550" cy="3492500"/>
          </a:xfrm>
          <a:prstGeom prst="rect">
            <a:avLst/>
          </a:prstGeom>
          <a:noFill/>
        </p:spPr>
        <p:txBody>
          <a:bodyPr wrap="square" rtlCol="0">
            <a:noAutofit/>
          </a:bodyPr>
          <a:p>
            <a:r>
              <a:rPr lang="en-US" altLang="en-US" sz="1800" b="1">
                <a:solidFill>
                  <a:srgbClr val="FF0000"/>
                </a:solidFill>
              </a:rPr>
              <a:t>Insights</a:t>
            </a:r>
            <a:endParaRPr lang="en-US" altLang="en-US" sz="1800" b="1">
              <a:solidFill>
                <a:srgbClr val="FF0000"/>
              </a:solidFill>
            </a:endParaRPr>
          </a:p>
          <a:p>
            <a:endParaRPr lang="en-US" altLang="en-US"/>
          </a:p>
          <a:p>
            <a:r>
              <a:rPr lang="en-US" altLang="en-US" sz="1800" b="1">
                <a:solidFill>
                  <a:srgbClr val="FF0000"/>
                </a:solidFill>
              </a:rPr>
              <a:t>Key Finding:</a:t>
            </a:r>
            <a:r>
              <a:rPr lang="en-US" altLang="en-US"/>
              <a:t> </a:t>
            </a:r>
            <a:r>
              <a:rPr lang="en-US" altLang="en-US" sz="1600"/>
              <a:t>Prague generates the highest overall revenue in terms of total customer spending.</a:t>
            </a:r>
            <a:endParaRPr lang="en-US" altLang="en-US" sz="1600"/>
          </a:p>
          <a:p>
            <a:endParaRPr lang="en-US" altLang="en-US" sz="1600"/>
          </a:p>
          <a:p>
            <a:r>
              <a:rPr lang="en-US" altLang="en-US" sz="1600" b="1">
                <a:solidFill>
                  <a:srgbClr val="FF0000"/>
                </a:solidFill>
              </a:rPr>
              <a:t>Data Context</a:t>
            </a:r>
            <a:r>
              <a:rPr lang="en-US" altLang="en-US"/>
              <a:t>: </a:t>
            </a:r>
            <a:r>
              <a:rPr lang="en-US" altLang="en-US" sz="1600"/>
              <a:t>Even though it does not have the highest number of invoices, its total sales of $90.24 indicate a higher average purchase value and strong customer quality.</a:t>
            </a:r>
            <a:endParaRPr lang="en-US" altLang="en-US" sz="1600"/>
          </a:p>
          <a:p>
            <a:endParaRPr lang="en-US" altLang="en-US"/>
          </a:p>
          <a:p>
            <a:r>
              <a:rPr lang="en-US" altLang="en-US" sz="1800" b="1">
                <a:solidFill>
                  <a:srgbClr val="FF0000"/>
                </a:solidFill>
              </a:rPr>
              <a:t>Business Impact:</a:t>
            </a:r>
            <a:r>
              <a:rPr lang="en-US" altLang="en-US"/>
              <a:t> </a:t>
            </a:r>
            <a:r>
              <a:rPr lang="en-US" altLang="en-US" sz="1600"/>
              <a:t>The sales approach used in Prague should be studied and adapted in other European cities with lower transaction volumes but high growth potential, to improve overall revenue quality and customer spending.</a:t>
            </a:r>
            <a:endParaRPr lang="en-US" altLang="en-US" sz="16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06095" y="495935"/>
            <a:ext cx="9022715" cy="1236345"/>
          </a:xfrm>
          <a:prstGeom prst="rect">
            <a:avLst/>
          </a:prstGeom>
          <a:noFill/>
        </p:spPr>
        <p:txBody>
          <a:bodyPr wrap="square" rtlCol="0">
            <a:noAutofit/>
          </a:bodyPr>
          <a:p>
            <a:pPr>
              <a:lnSpc>
                <a:spcPct val="110000"/>
              </a:lnSpc>
            </a:pPr>
            <a:r>
              <a:rPr lang="en-US" altLang="en-US" sz="1800" b="1">
                <a:solidFill>
                  <a:srgbClr val="E52328"/>
                </a:solidFill>
                <a:latin typeface="Ebrima" panose="02000000000000000000" charset="0"/>
                <a:cs typeface="Ebrima" panose="02000000000000000000" charset="0"/>
                <a:sym typeface="+mn-ea"/>
              </a:rPr>
              <a:t>Q7. Let's invite the artists who have written the most rock music in our dataset. </a:t>
            </a:r>
            <a:endParaRPr lang="en-US" altLang="en-US" sz="1800" b="1">
              <a:solidFill>
                <a:srgbClr val="E52328"/>
              </a:solidFill>
              <a:latin typeface="Ebrima" panose="02000000000000000000" charset="0"/>
              <a:cs typeface="Ebrima" panose="02000000000000000000" charset="0"/>
            </a:endParaRPr>
          </a:p>
          <a:p>
            <a:pPr marL="285750" indent="-285750">
              <a:lnSpc>
                <a:spcPct val="110000"/>
              </a:lnSpc>
              <a:buFont typeface="Arial" panose="020B0604020202020204" pitchFamily="34" charset="0"/>
              <a:buChar char="•"/>
            </a:pPr>
            <a:r>
              <a:rPr lang="en-US" altLang="en-US" sz="1800" b="1">
                <a:latin typeface="Ebrima" panose="02000000000000000000" charset="0"/>
                <a:cs typeface="Ebrima" panose="02000000000000000000" charset="0"/>
                <a:sym typeface="+mn-ea"/>
              </a:rPr>
              <a:t>Write a query that returns the Artist name and total track count of the top 10 rock bands</a:t>
            </a:r>
            <a:endParaRPr lang="en-US" altLang="en-US" sz="1800" b="1">
              <a:latin typeface="Ebrima" panose="02000000000000000000" charset="0"/>
              <a:cs typeface="Ebrima" panose="02000000000000000000" charset="0"/>
            </a:endParaRPr>
          </a:p>
          <a:p>
            <a:endParaRPr lang="en-US" sz="1800"/>
          </a:p>
        </p:txBody>
      </p:sp>
      <p:pic>
        <p:nvPicPr>
          <p:cNvPr id="3" name="Picture 2"/>
          <p:cNvPicPr>
            <a:picLocks noChangeAspect="1"/>
          </p:cNvPicPr>
          <p:nvPr/>
        </p:nvPicPr>
        <p:blipFill>
          <a:blip r:embed="rId1"/>
          <a:stretch>
            <a:fillRect/>
          </a:stretch>
        </p:blipFill>
        <p:spPr>
          <a:xfrm>
            <a:off x="5952490" y="1196975"/>
            <a:ext cx="4674870" cy="4971415"/>
          </a:xfrm>
          <a:prstGeom prst="rect">
            <a:avLst/>
          </a:prstGeom>
        </p:spPr>
      </p:pic>
      <p:sp>
        <p:nvSpPr>
          <p:cNvPr id="4" name="Text Box 3"/>
          <p:cNvSpPr txBox="1"/>
          <p:nvPr/>
        </p:nvSpPr>
        <p:spPr>
          <a:xfrm>
            <a:off x="491490" y="1802130"/>
            <a:ext cx="4899025" cy="4048760"/>
          </a:xfrm>
          <a:prstGeom prst="rect">
            <a:avLst/>
          </a:prstGeom>
          <a:noFill/>
        </p:spPr>
        <p:txBody>
          <a:bodyPr wrap="square" rtlCol="0">
            <a:noAutofit/>
          </a:bodyPr>
          <a:p>
            <a:r>
              <a:rPr lang="en-US" altLang="en-US" sz="1800" b="1">
                <a:solidFill>
                  <a:srgbClr val="FF0000"/>
                </a:solidFill>
              </a:rPr>
              <a:t>Insights</a:t>
            </a:r>
            <a:endParaRPr lang="en-US" altLang="en-US" sz="1800" b="1">
              <a:solidFill>
                <a:srgbClr val="FF0000"/>
              </a:solidFill>
            </a:endParaRPr>
          </a:p>
          <a:p>
            <a:endParaRPr lang="en-US" altLang="en-US"/>
          </a:p>
          <a:p>
            <a:r>
              <a:rPr lang="en-US" altLang="en-US" sz="1600" b="1">
                <a:solidFill>
                  <a:srgbClr val="FF0000"/>
                </a:solidFill>
              </a:rPr>
              <a:t>Key Finding</a:t>
            </a:r>
            <a:r>
              <a:rPr lang="en-US" altLang="en-US"/>
              <a:t>: Led Zeppelin (114 tracks) and U2 (112 tracks) are the leading contributors in terms of content volume within the primary genre.</a:t>
            </a:r>
            <a:endParaRPr lang="en-US" altLang="en-US"/>
          </a:p>
          <a:p>
            <a:endParaRPr lang="en-US" altLang="en-US" b="1">
              <a:solidFill>
                <a:srgbClr val="FF0000"/>
              </a:solidFill>
            </a:endParaRPr>
          </a:p>
          <a:p>
            <a:r>
              <a:rPr lang="en-US" altLang="en-US" b="1">
                <a:solidFill>
                  <a:srgbClr val="FF0000"/>
                </a:solidFill>
              </a:rPr>
              <a:t>Data Context</a:t>
            </a:r>
            <a:r>
              <a:rPr lang="en-US" altLang="en-US"/>
              <a:t>: Their extensive track collections make them key drivers of the store’s overall catalog strength and revenue potential.</a:t>
            </a:r>
            <a:endParaRPr lang="en-US" altLang="en-US"/>
          </a:p>
          <a:p>
            <a:endParaRPr lang="en-US" altLang="en-US"/>
          </a:p>
          <a:p>
            <a:r>
              <a:rPr lang="en-US" altLang="en-US" b="1">
                <a:solidFill>
                  <a:srgbClr val="FF0000"/>
                </a:solidFill>
              </a:rPr>
              <a:t>Business Impact:</a:t>
            </a:r>
            <a:r>
              <a:rPr lang="en-US" altLang="en-US"/>
              <a:t> These artists represent reliable, high-volume inventory assets. The business should capitalize on their large catalogs by negotiating more favorable long-term licensing agreements.</a:t>
            </a:r>
            <a:endParaRPr lang="en-US"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25120" y="608330"/>
            <a:ext cx="9784080" cy="779780"/>
          </a:xfrm>
          <a:prstGeom prst="rect">
            <a:avLst/>
          </a:prstGeom>
          <a:noFill/>
        </p:spPr>
        <p:txBody>
          <a:bodyPr wrap="square" rtlCol="0">
            <a:spAutoFit/>
          </a:bodyPr>
          <a:p>
            <a:pPr>
              <a:lnSpc>
                <a:spcPct val="110000"/>
              </a:lnSpc>
            </a:pPr>
            <a:r>
              <a:rPr lang="en-US" altLang="en-US" b="1">
                <a:solidFill>
                  <a:srgbClr val="E52328"/>
                </a:solidFill>
                <a:latin typeface="Ebrima" panose="02000000000000000000" charset="0"/>
                <a:cs typeface="Ebrima" panose="02000000000000000000" charset="0"/>
                <a:sym typeface="+mn-ea"/>
              </a:rPr>
              <a:t>Q8. Return all the track names that have a song length longer than the average song length.</a:t>
            </a:r>
            <a:endParaRPr lang="en-US" altLang="en-US" b="1">
              <a:latin typeface="Ebrima" panose="02000000000000000000" charset="0"/>
              <a:cs typeface="Ebrima" panose="02000000000000000000" charset="0"/>
            </a:endParaRPr>
          </a:p>
          <a:p>
            <a:pPr marL="285750" indent="-285750">
              <a:lnSpc>
                <a:spcPct val="110000"/>
              </a:lnSpc>
              <a:buFont typeface="Arial" panose="020B0604020202020204" pitchFamily="34" charset="0"/>
              <a:buChar char="•"/>
            </a:pPr>
            <a:r>
              <a:rPr lang="en-US" altLang="en-US" b="1">
                <a:latin typeface="Ebrima" panose="02000000000000000000" charset="0"/>
                <a:cs typeface="Ebrima" panose="02000000000000000000" charset="0"/>
                <a:sym typeface="+mn-ea"/>
              </a:rPr>
              <a:t>Return the Name and Milliseconds for each track. Order by the song length, with the longest songs listed first</a:t>
            </a:r>
            <a:endParaRPr lang="en-US" altLang="en-US" b="1">
              <a:latin typeface="Ebrima" panose="02000000000000000000" charset="0"/>
              <a:cs typeface="Ebrima" panose="02000000000000000000" charset="0"/>
            </a:endParaRPr>
          </a:p>
          <a:p>
            <a:endParaRPr lang="en-US"/>
          </a:p>
        </p:txBody>
      </p:sp>
      <p:pic>
        <p:nvPicPr>
          <p:cNvPr id="3" name="Picture 2"/>
          <p:cNvPicPr>
            <a:picLocks noChangeAspect="1"/>
          </p:cNvPicPr>
          <p:nvPr/>
        </p:nvPicPr>
        <p:blipFill>
          <a:blip r:embed="rId1"/>
          <a:stretch>
            <a:fillRect/>
          </a:stretch>
        </p:blipFill>
        <p:spPr>
          <a:xfrm>
            <a:off x="695960" y="1557020"/>
            <a:ext cx="5532120" cy="3977640"/>
          </a:xfrm>
          <a:prstGeom prst="rect">
            <a:avLst/>
          </a:prstGeom>
        </p:spPr>
      </p:pic>
      <p:sp>
        <p:nvSpPr>
          <p:cNvPr id="4" name="Text Box 3"/>
          <p:cNvSpPr txBox="1"/>
          <p:nvPr/>
        </p:nvSpPr>
        <p:spPr>
          <a:xfrm>
            <a:off x="6431915" y="1664970"/>
            <a:ext cx="5524500" cy="4065270"/>
          </a:xfrm>
          <a:prstGeom prst="rect">
            <a:avLst/>
          </a:prstGeom>
        </p:spPr>
        <p:txBody>
          <a:bodyPr wrap="square">
            <a:noAutofit/>
            <a:extLst>
              <a:ext uri="{4A0BC546-FE56-4ADE-93B0-CB8AF2F6F144}">
                <wpsdc:textFrameExt xmlns:wpsdc="http://www.wps.cn/officeDocument/2022/drawingmlCustomData" type="text"/>
              </a:ext>
            </a:extLst>
          </a:bodyPr>
          <a:p>
            <a:pPr algn="l"/>
            <a:r>
              <a:rPr lang="en-US" altLang="en-US" sz="1800" b="1">
                <a:solidFill>
                  <a:srgbClr val="FF0000"/>
                </a:solidFill>
                <a:latin typeface="Arial" panose="020B0604020202020204" pitchFamily="34" charset="0"/>
                <a:ea typeface="Microsoft YaHei" panose="020B0503020204020204" charset="-122"/>
              </a:rPr>
              <a:t>Insights</a:t>
            </a:r>
            <a:endParaRPr lang="en-US" altLang="en-US" sz="1800" b="1">
              <a:solidFill>
                <a:srgbClr val="FF0000"/>
              </a:solidFill>
              <a:latin typeface="Arial" panose="020B0604020202020204" pitchFamily="34" charset="0"/>
              <a:ea typeface="Microsoft YaHei" panose="020B0503020204020204" charset="-122"/>
            </a:endParaRPr>
          </a:p>
          <a:p>
            <a:pPr algn="l"/>
            <a:endParaRPr lang="en-US" altLang="en-US" sz="1800">
              <a:latin typeface="Arial" panose="020B0604020202020204" pitchFamily="34" charset="0"/>
              <a:ea typeface="Microsoft YaHei" panose="020B0503020204020204" charset="-122"/>
            </a:endParaRPr>
          </a:p>
          <a:p>
            <a:pPr algn="l"/>
            <a:r>
              <a:rPr lang="en-US" altLang="en-US" sz="1800" b="1">
                <a:solidFill>
                  <a:srgbClr val="FF0000"/>
                </a:solidFill>
                <a:latin typeface="Arial" panose="020B0604020202020204" pitchFamily="34" charset="0"/>
                <a:ea typeface="Microsoft YaHei" panose="020B0503020204020204" charset="-122"/>
              </a:rPr>
              <a:t>Key Finding:</a:t>
            </a:r>
            <a:r>
              <a:rPr lang="en-US" altLang="en-US" sz="1800">
                <a:latin typeface="Arial" panose="020B0604020202020204" pitchFamily="34" charset="0"/>
                <a:ea typeface="Microsoft YaHei" panose="020B0503020204020204" charset="-122"/>
              </a:rPr>
              <a:t> A significant share of the inventory is made up of niche, long-duration tracks (exceeding the average length of 393,599 ms).</a:t>
            </a:r>
            <a:endParaRPr lang="en-US" altLang="en-US" sz="1800">
              <a:latin typeface="Arial" panose="020B0604020202020204" pitchFamily="34" charset="0"/>
              <a:ea typeface="Microsoft YaHei" panose="020B0503020204020204" charset="-122"/>
            </a:endParaRPr>
          </a:p>
          <a:p>
            <a:pPr algn="l"/>
            <a:endParaRPr lang="en-US" altLang="en-US" sz="1800" b="1">
              <a:solidFill>
                <a:srgbClr val="FF0000"/>
              </a:solidFill>
              <a:latin typeface="Arial" panose="020B0604020202020204" pitchFamily="34" charset="0"/>
              <a:ea typeface="Microsoft YaHei" panose="020B0503020204020204" charset="-122"/>
            </a:endParaRPr>
          </a:p>
          <a:p>
            <a:pPr algn="l"/>
            <a:r>
              <a:rPr lang="en-US" altLang="en-US" sz="1800" b="1">
                <a:solidFill>
                  <a:srgbClr val="FF0000"/>
                </a:solidFill>
                <a:latin typeface="Arial" panose="020B0604020202020204" pitchFamily="34" charset="0"/>
                <a:ea typeface="Microsoft YaHei" panose="020B0503020204020204" charset="-122"/>
              </a:rPr>
              <a:t>Data Context:</a:t>
            </a:r>
            <a:r>
              <a:rPr lang="en-US" altLang="en-US" sz="1800">
                <a:latin typeface="Arial" panose="020B0604020202020204" pitchFamily="34" charset="0"/>
                <a:ea typeface="Microsoft YaHei" panose="020B0503020204020204" charset="-122"/>
              </a:rPr>
              <a:t> More than 1,100 tracks are longer than the average, indicating a strong presence of categories such as Classical, Soundtracks, and TV Shows within the catalog.</a:t>
            </a:r>
            <a:endParaRPr lang="en-US" altLang="en-US" sz="1800">
              <a:latin typeface="Arial" panose="020B0604020202020204" pitchFamily="34" charset="0"/>
              <a:ea typeface="Microsoft YaHei" panose="020B050302020402020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61010" y="473710"/>
            <a:ext cx="9799955" cy="1198245"/>
          </a:xfrm>
          <a:prstGeom prst="rect">
            <a:avLst/>
          </a:prstGeom>
          <a:noFill/>
        </p:spPr>
        <p:txBody>
          <a:bodyPr wrap="square" rtlCol="0">
            <a:noAutofit/>
          </a:bodyPr>
          <a:p>
            <a:pPr>
              <a:lnSpc>
                <a:spcPct val="110000"/>
              </a:lnSpc>
            </a:pPr>
            <a:r>
              <a:rPr lang="en-US" altLang="en-US" b="1">
                <a:solidFill>
                  <a:srgbClr val="E52328"/>
                </a:solidFill>
                <a:latin typeface="Ebrima" panose="02000000000000000000" charset="0"/>
                <a:cs typeface="Ebrima" panose="02000000000000000000" charset="0"/>
                <a:sym typeface="+mn-ea"/>
              </a:rPr>
              <a:t>Q11. Write a query that determines the customer that has spent the most on music for each country.</a:t>
            </a:r>
            <a:endParaRPr lang="en-US" altLang="en-US" b="1">
              <a:solidFill>
                <a:srgbClr val="E52328"/>
              </a:solidFill>
              <a:latin typeface="Ebrima" panose="02000000000000000000" charset="0"/>
              <a:cs typeface="Ebrima" panose="02000000000000000000" charset="0"/>
            </a:endParaRPr>
          </a:p>
          <a:p>
            <a:pPr marL="285750" indent="-285750">
              <a:lnSpc>
                <a:spcPct val="110000"/>
              </a:lnSpc>
              <a:buFont typeface="Arial" panose="020B0604020202020204" pitchFamily="34" charset="0"/>
              <a:buChar char="•"/>
            </a:pPr>
            <a:r>
              <a:rPr lang="en-US" altLang="en-US" b="1">
                <a:latin typeface="Ebrima" panose="02000000000000000000" charset="0"/>
                <a:cs typeface="Ebrima" panose="02000000000000000000" charset="0"/>
                <a:sym typeface="+mn-ea"/>
              </a:rPr>
              <a:t>Write a query that returns the country along with the top customer and how much they spent. </a:t>
            </a:r>
            <a:endParaRPr lang="en-US" altLang="en-US" b="1">
              <a:latin typeface="Ebrima" panose="02000000000000000000" charset="0"/>
              <a:cs typeface="Ebrima" panose="02000000000000000000" charset="0"/>
            </a:endParaRPr>
          </a:p>
          <a:p>
            <a:pPr marL="285750" indent="-285750">
              <a:lnSpc>
                <a:spcPct val="110000"/>
              </a:lnSpc>
              <a:buFont typeface="Arial" panose="020B0604020202020204" pitchFamily="34" charset="0"/>
              <a:buChar char="•"/>
            </a:pPr>
            <a:r>
              <a:rPr lang="en-US" altLang="en-US" b="1">
                <a:latin typeface="Ebrima" panose="02000000000000000000" charset="0"/>
                <a:cs typeface="Ebrima" panose="02000000000000000000" charset="0"/>
                <a:sym typeface="+mn-ea"/>
              </a:rPr>
              <a:t>For countries where the top amount spent is shared, provide all customers who spent this amount</a:t>
            </a:r>
            <a:endParaRPr lang="en-US" altLang="en-US" b="1">
              <a:latin typeface="Ebrima" panose="02000000000000000000" charset="0"/>
              <a:cs typeface="Ebrima" panose="02000000000000000000" charset="0"/>
            </a:endParaRPr>
          </a:p>
          <a:p>
            <a:endParaRPr lang="en-US"/>
          </a:p>
        </p:txBody>
      </p:sp>
      <p:pic>
        <p:nvPicPr>
          <p:cNvPr id="4" name="Picture 3"/>
          <p:cNvPicPr>
            <a:picLocks noChangeAspect="1"/>
          </p:cNvPicPr>
          <p:nvPr/>
        </p:nvPicPr>
        <p:blipFill>
          <a:blip r:embed="rId1"/>
          <a:stretch>
            <a:fillRect/>
          </a:stretch>
        </p:blipFill>
        <p:spPr>
          <a:xfrm>
            <a:off x="695960" y="1484630"/>
            <a:ext cx="5712460" cy="4098290"/>
          </a:xfrm>
          <a:prstGeom prst="rect">
            <a:avLst/>
          </a:prstGeom>
        </p:spPr>
      </p:pic>
      <p:sp>
        <p:nvSpPr>
          <p:cNvPr id="5" name="Text Box 4"/>
          <p:cNvSpPr txBox="1"/>
          <p:nvPr/>
        </p:nvSpPr>
        <p:spPr>
          <a:xfrm>
            <a:off x="6459220" y="1397635"/>
            <a:ext cx="5403215" cy="3083560"/>
          </a:xfrm>
          <a:prstGeom prst="rect">
            <a:avLst/>
          </a:prstGeom>
          <a:noFill/>
        </p:spPr>
        <p:txBody>
          <a:bodyPr wrap="square" rtlCol="0" anchor="t">
            <a:noAutofit/>
          </a:bodyPr>
          <a:p>
            <a:pPr marL="0" indent="0">
              <a:lnSpc>
                <a:spcPct val="100000"/>
              </a:lnSpc>
              <a:buFont typeface="Wingdings" panose="05000000000000000000" charset="0"/>
              <a:buNone/>
            </a:pPr>
            <a:r>
              <a:rPr lang="en-US" altLang="en-US" sz="1600" b="1">
                <a:solidFill>
                  <a:srgbClr val="FF0000"/>
                </a:solidFill>
                <a:latin typeface="Ebrima" panose="02000000000000000000" charset="0"/>
                <a:cs typeface="Ebrima" panose="02000000000000000000" charset="0"/>
                <a:sym typeface="+mn-ea"/>
              </a:rPr>
              <a:t>Insights</a:t>
            </a:r>
            <a:endParaRPr lang="en-US" altLang="en-US" sz="1600" b="1">
              <a:solidFill>
                <a:srgbClr val="FF0000"/>
              </a:solidFill>
              <a:latin typeface="Ebrima" panose="02000000000000000000" charset="0"/>
              <a:cs typeface="Ebrima" panose="02000000000000000000" charset="0"/>
            </a:endParaRPr>
          </a:p>
          <a:p>
            <a:pPr marL="0" indent="0">
              <a:lnSpc>
                <a:spcPct val="100000"/>
              </a:lnSpc>
              <a:buFont typeface="Wingdings" panose="05000000000000000000" charset="0"/>
              <a:buNone/>
            </a:pPr>
            <a:r>
              <a:rPr lang="en-US" altLang="en-US" sz="1600" b="1">
                <a:solidFill>
                  <a:srgbClr val="FF0000"/>
                </a:solidFill>
                <a:latin typeface="Ebrima" panose="02000000000000000000" charset="0"/>
                <a:cs typeface="Ebrima" panose="02000000000000000000" charset="0"/>
                <a:sym typeface="+mn-ea"/>
              </a:rPr>
              <a:t>Key Finding: </a:t>
            </a:r>
            <a:r>
              <a:rPr lang="en-US" altLang="en-US" sz="1600">
                <a:solidFill>
                  <a:schemeClr val="tx1"/>
                </a:solidFill>
                <a:latin typeface="Ebrima" panose="02000000000000000000" charset="0"/>
                <a:cs typeface="Ebrima" panose="02000000000000000000" charset="0"/>
                <a:sym typeface="+mn-ea"/>
              </a:rPr>
              <a:t>The analysis accurately identified the top-spending customer in each country.</a:t>
            </a:r>
            <a:endParaRPr lang="en-US" altLang="en-US" sz="1600">
              <a:solidFill>
                <a:schemeClr val="tx1"/>
              </a:solidFill>
              <a:latin typeface="Ebrima" panose="02000000000000000000" charset="0"/>
              <a:cs typeface="Ebrima" panose="02000000000000000000" charset="0"/>
            </a:endParaRPr>
          </a:p>
          <a:p>
            <a:pPr marL="0" indent="0">
              <a:lnSpc>
                <a:spcPct val="100000"/>
              </a:lnSpc>
              <a:buFont typeface="Wingdings" panose="05000000000000000000" charset="0"/>
              <a:buNone/>
            </a:pPr>
            <a:r>
              <a:rPr lang="en-US" altLang="en-US" sz="1600" b="1">
                <a:solidFill>
                  <a:srgbClr val="FF0000"/>
                </a:solidFill>
                <a:latin typeface="Ebrima" panose="02000000000000000000" charset="0"/>
                <a:cs typeface="Ebrima" panose="02000000000000000000" charset="0"/>
                <a:sym typeface="+mn-ea"/>
              </a:rPr>
              <a:t> </a:t>
            </a:r>
            <a:endParaRPr lang="en-US" altLang="en-US" sz="1600" b="1">
              <a:solidFill>
                <a:srgbClr val="FF0000"/>
              </a:solidFill>
              <a:latin typeface="Ebrima" panose="02000000000000000000" charset="0"/>
              <a:cs typeface="Ebrima" panose="02000000000000000000" charset="0"/>
            </a:endParaRPr>
          </a:p>
          <a:p>
            <a:pPr marL="0" indent="0">
              <a:lnSpc>
                <a:spcPct val="100000"/>
              </a:lnSpc>
              <a:buFont typeface="Wingdings" panose="05000000000000000000" charset="0"/>
              <a:buNone/>
            </a:pPr>
            <a:r>
              <a:rPr lang="en-US" altLang="en-US" sz="1600" b="1">
                <a:solidFill>
                  <a:srgbClr val="FF0000"/>
                </a:solidFill>
                <a:latin typeface="Ebrima" panose="02000000000000000000" charset="0"/>
                <a:cs typeface="Ebrima" panose="02000000000000000000" charset="0"/>
                <a:sym typeface="+mn-ea"/>
              </a:rPr>
              <a:t>Data Context: </a:t>
            </a:r>
            <a:r>
              <a:rPr lang="en-US" altLang="en-US" sz="1600">
                <a:solidFill>
                  <a:schemeClr val="tx1"/>
                </a:solidFill>
                <a:latin typeface="Ebrima" panose="02000000000000000000" charset="0"/>
                <a:cs typeface="Ebrima" panose="02000000000000000000" charset="0"/>
                <a:sym typeface="+mn-ea"/>
              </a:rPr>
              <a:t>This was achieved using the RANK() window function, enabling efficient comparison of customer spending within each region.</a:t>
            </a:r>
            <a:endParaRPr lang="en-US" altLang="en-US" sz="1600">
              <a:solidFill>
                <a:schemeClr val="tx1"/>
              </a:solidFill>
              <a:latin typeface="Ebrima" panose="02000000000000000000" charset="0"/>
              <a:cs typeface="Ebrima" panose="02000000000000000000" charset="0"/>
            </a:endParaRPr>
          </a:p>
          <a:p>
            <a:pPr marL="0" indent="0">
              <a:lnSpc>
                <a:spcPct val="100000"/>
              </a:lnSpc>
              <a:buFont typeface="Wingdings" panose="05000000000000000000" charset="0"/>
              <a:buNone/>
            </a:pPr>
            <a:endParaRPr lang="en-US" altLang="en-US" sz="1600">
              <a:solidFill>
                <a:schemeClr val="tx1"/>
              </a:solidFill>
              <a:latin typeface="Ebrima" panose="02000000000000000000" charset="0"/>
              <a:cs typeface="Ebrima" panose="02000000000000000000" charset="0"/>
            </a:endParaRPr>
          </a:p>
          <a:p>
            <a:pPr marL="0" indent="0">
              <a:lnSpc>
                <a:spcPct val="100000"/>
              </a:lnSpc>
              <a:buFont typeface="Wingdings" panose="05000000000000000000" charset="0"/>
              <a:buNone/>
            </a:pPr>
            <a:r>
              <a:rPr lang="en-US" altLang="en-US" sz="1600" b="1">
                <a:solidFill>
                  <a:srgbClr val="FF0000"/>
                </a:solidFill>
                <a:latin typeface="Ebrima" panose="02000000000000000000" charset="0"/>
                <a:cs typeface="Ebrima" panose="02000000000000000000" charset="0"/>
                <a:sym typeface="+mn-ea"/>
              </a:rPr>
              <a:t>Business Impact:</a:t>
            </a:r>
            <a:r>
              <a:rPr lang="en-US" altLang="en-US" sz="1600">
                <a:solidFill>
                  <a:schemeClr val="tx1"/>
                </a:solidFill>
                <a:latin typeface="Ebrima" panose="02000000000000000000" charset="0"/>
                <a:cs typeface="Ebrima" panose="02000000000000000000" charset="0"/>
                <a:sym typeface="+mn-ea"/>
              </a:rPr>
              <a:t> This insight creates a valuable list of high-value customers across different countries. These top spenders can be targeted with personalized offers and engagement strategies to strengthen loyalty and drive sustained regional growth.</a:t>
            </a:r>
            <a:endParaRPr lang="en-US" altLang="en-US">
              <a:solidFill>
                <a:schemeClr val="tx1"/>
              </a:solidFill>
              <a:latin typeface="Ebrima" panose="02000000000000000000" charset="0"/>
              <a:cs typeface="Ebrima" panose="02000000000000000000" charset="0"/>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07670" y="484505"/>
            <a:ext cx="8191500" cy="1252855"/>
          </a:xfrm>
          <a:prstGeom prst="rect">
            <a:avLst/>
          </a:prstGeom>
          <a:noFill/>
        </p:spPr>
        <p:txBody>
          <a:bodyPr wrap="square" rtlCol="0">
            <a:spAutoFit/>
          </a:bodyPr>
          <a:p>
            <a:pPr>
              <a:lnSpc>
                <a:spcPct val="110000"/>
              </a:lnSpc>
            </a:pPr>
            <a:r>
              <a:rPr lang="en-US" altLang="en-US" b="1">
                <a:solidFill>
                  <a:srgbClr val="E52328"/>
                </a:solidFill>
                <a:latin typeface="Ebrima" panose="02000000000000000000" charset="0"/>
                <a:cs typeface="Ebrima" panose="02000000000000000000" charset="0"/>
                <a:sym typeface="+mn-ea"/>
              </a:rPr>
              <a:t>Q10. We want to find out the most popular music Genre for each country.</a:t>
            </a:r>
            <a:endParaRPr lang="en-US" altLang="en-US" b="1">
              <a:solidFill>
                <a:srgbClr val="E52328"/>
              </a:solidFill>
              <a:latin typeface="Ebrima" panose="02000000000000000000" charset="0"/>
              <a:cs typeface="Ebrima" panose="02000000000000000000" charset="0"/>
            </a:endParaRPr>
          </a:p>
          <a:p>
            <a:pPr marL="285750" indent="-285750">
              <a:lnSpc>
                <a:spcPct val="110000"/>
              </a:lnSpc>
              <a:buFont typeface="Arial" panose="020B0604020202020204" pitchFamily="34" charset="0"/>
              <a:buChar char="•"/>
            </a:pPr>
            <a:r>
              <a:rPr lang="en-US" altLang="en-US" b="1">
                <a:latin typeface="Ebrima" panose="02000000000000000000" charset="0"/>
                <a:cs typeface="Ebrima" panose="02000000000000000000" charset="0"/>
                <a:sym typeface="+mn-ea"/>
              </a:rPr>
              <a:t>We determine the most popular genre as the genre with the highest amount of purchases. </a:t>
            </a:r>
            <a:endParaRPr lang="en-US" altLang="en-US" b="1">
              <a:latin typeface="Ebrima" panose="02000000000000000000" charset="0"/>
              <a:cs typeface="Ebrima" panose="02000000000000000000" charset="0"/>
            </a:endParaRPr>
          </a:p>
          <a:p>
            <a:pPr marL="285750" indent="-285750">
              <a:lnSpc>
                <a:spcPct val="110000"/>
              </a:lnSpc>
              <a:buFont typeface="Arial" panose="020B0604020202020204" pitchFamily="34" charset="0"/>
              <a:buChar char="•"/>
            </a:pPr>
            <a:r>
              <a:rPr lang="en-US" altLang="en-US" b="1">
                <a:latin typeface="Ebrima" panose="02000000000000000000" charset="0"/>
                <a:cs typeface="Ebrima" panose="02000000000000000000" charset="0"/>
                <a:sym typeface="+mn-ea"/>
              </a:rPr>
              <a:t>Write a query that returns each country along with the top Genre. </a:t>
            </a:r>
            <a:endParaRPr lang="en-US" altLang="en-US" b="1">
              <a:latin typeface="Ebrima" panose="02000000000000000000" charset="0"/>
              <a:cs typeface="Ebrima" panose="02000000000000000000" charset="0"/>
            </a:endParaRPr>
          </a:p>
          <a:p>
            <a:pPr marL="285750" indent="-285750">
              <a:lnSpc>
                <a:spcPct val="110000"/>
              </a:lnSpc>
              <a:buFont typeface="Arial" panose="020B0604020202020204" pitchFamily="34" charset="0"/>
              <a:buChar char="•"/>
            </a:pPr>
            <a:r>
              <a:rPr lang="en-US" altLang="en-US" b="1">
                <a:latin typeface="Ebrima" panose="02000000000000000000" charset="0"/>
                <a:cs typeface="Ebrima" panose="02000000000000000000" charset="0"/>
                <a:sym typeface="+mn-ea"/>
              </a:rPr>
              <a:t>For countries where the maximum number of purchases is shared, return all Genres</a:t>
            </a:r>
            <a:endParaRPr lang="en-US" altLang="en-US" b="1">
              <a:latin typeface="Ebrima" panose="02000000000000000000" charset="0"/>
              <a:cs typeface="Ebrima" panose="02000000000000000000" charset="0"/>
            </a:endParaRPr>
          </a:p>
          <a:p>
            <a:endParaRPr lang="en-US"/>
          </a:p>
        </p:txBody>
      </p:sp>
      <p:pic>
        <p:nvPicPr>
          <p:cNvPr id="3" name="Picture 2" descr="Screenshot 2025-11-21 182717"/>
          <p:cNvPicPr>
            <a:picLocks noChangeAspect="1"/>
          </p:cNvPicPr>
          <p:nvPr/>
        </p:nvPicPr>
        <p:blipFill>
          <a:blip r:embed="rId1"/>
          <a:stretch>
            <a:fillRect/>
          </a:stretch>
        </p:blipFill>
        <p:spPr>
          <a:xfrm>
            <a:off x="983615" y="1700530"/>
            <a:ext cx="5591810" cy="4801870"/>
          </a:xfrm>
          <a:prstGeom prst="rect">
            <a:avLst/>
          </a:prstGeom>
        </p:spPr>
      </p:pic>
      <p:sp>
        <p:nvSpPr>
          <p:cNvPr id="4" name="Text Box 3"/>
          <p:cNvSpPr txBox="1"/>
          <p:nvPr/>
        </p:nvSpPr>
        <p:spPr>
          <a:xfrm>
            <a:off x="7485380" y="1585595"/>
            <a:ext cx="3572510" cy="3923665"/>
          </a:xfrm>
          <a:prstGeom prst="rect">
            <a:avLst/>
          </a:prstGeom>
          <a:noFill/>
        </p:spPr>
        <p:txBody>
          <a:bodyPr wrap="square" rtlCol="0">
            <a:noAutofit/>
          </a:bodyPr>
          <a:p>
            <a:r>
              <a:rPr lang="en-US" altLang="en-US" sz="1600" b="1">
                <a:solidFill>
                  <a:srgbClr val="FF0000"/>
                </a:solidFill>
              </a:rPr>
              <a:t>Insights</a:t>
            </a:r>
            <a:endParaRPr lang="en-US" altLang="en-US" sz="1600" b="1">
              <a:solidFill>
                <a:srgbClr val="FF0000"/>
              </a:solidFill>
            </a:endParaRPr>
          </a:p>
          <a:p>
            <a:endParaRPr lang="en-US" altLang="en-US"/>
          </a:p>
          <a:p>
            <a:r>
              <a:rPr lang="en-US" altLang="en-US" sz="1600" b="1">
                <a:solidFill>
                  <a:srgbClr val="FF0000"/>
                </a:solidFill>
              </a:rPr>
              <a:t>Key Finding:</a:t>
            </a:r>
            <a:r>
              <a:rPr lang="en-US" altLang="en-US"/>
              <a:t> Rock music shows strong dominance across most regions, establishing it as a consistent global baseline.</a:t>
            </a:r>
            <a:endParaRPr lang="en-US" altLang="en-US"/>
          </a:p>
          <a:p>
            <a:endParaRPr lang="en-US" altLang="en-US"/>
          </a:p>
          <a:p>
            <a:r>
              <a:rPr lang="en-US" altLang="en-US" sz="1600" b="1">
                <a:solidFill>
                  <a:srgbClr val="FF0000"/>
                </a:solidFill>
              </a:rPr>
              <a:t>Data Context: </a:t>
            </a:r>
            <a:r>
              <a:rPr lang="en-US" altLang="en-US"/>
              <a:t>Argentina stands out as an exception, where Alternative &amp; Punk leads in purchase quantity instead of Rock.</a:t>
            </a:r>
            <a:endParaRPr lang="en-US" altLang="en-US"/>
          </a:p>
          <a:p>
            <a:endParaRPr lang="en-US" altLang="en-US"/>
          </a:p>
          <a:p>
            <a:r>
              <a:rPr lang="en-US" altLang="en-US" sz="1600" b="1">
                <a:solidFill>
                  <a:srgbClr val="FF0000"/>
                </a:solidFill>
              </a:rPr>
              <a:t>Business Impact:</a:t>
            </a:r>
            <a:r>
              <a:rPr lang="en-US" altLang="en-US"/>
              <a:t> Argentina presents a low-risk opportunity to experiment with diversified inventory and region-specific genre marketing, which can later be scaled to other markets based on performance.</a:t>
            </a:r>
            <a:endParaRPr lang="en-US"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41325" y="1043305"/>
            <a:ext cx="10415270" cy="4913630"/>
          </a:xfrm>
          <a:prstGeom prst="rect">
            <a:avLst/>
          </a:prstGeom>
          <a:noFill/>
        </p:spPr>
        <p:txBody>
          <a:bodyPr wrap="square" rtlCol="0">
            <a:noAutofit/>
          </a:bodyPr>
          <a:p>
            <a:pPr>
              <a:lnSpc>
                <a:spcPct val="150000"/>
              </a:lnSpc>
            </a:pPr>
            <a:r>
              <a:rPr lang="en-US" altLang="en-US" b="1">
                <a:solidFill>
                  <a:srgbClr val="FF0000"/>
                </a:solidFill>
              </a:rPr>
              <a:t>Focus on High-Demand Inventory</a:t>
            </a:r>
            <a:endParaRPr lang="en-US" altLang="en-US" b="1">
              <a:solidFill>
                <a:srgbClr val="FF0000"/>
              </a:solidFill>
            </a:endParaRPr>
          </a:p>
          <a:p>
            <a:pPr>
              <a:lnSpc>
                <a:spcPct val="150000"/>
              </a:lnSpc>
            </a:pPr>
            <a:r>
              <a:rPr lang="en-US" altLang="en-US"/>
              <a:t>Allocate most of the inventory budget (85%+) to top-performing artists and Rock genre to ensure consistent sales and maximize returns.</a:t>
            </a:r>
            <a:endParaRPr lang="en-US" altLang="en-US"/>
          </a:p>
          <a:p>
            <a:pPr>
              <a:lnSpc>
                <a:spcPct val="150000"/>
              </a:lnSpc>
            </a:pPr>
            <a:r>
              <a:rPr lang="en-US" altLang="en-US" b="1">
                <a:solidFill>
                  <a:srgbClr val="FF0000"/>
                </a:solidFill>
              </a:rPr>
              <a:t>Strengthen Customer Loyalty</a:t>
            </a:r>
            <a:endParaRPr lang="en-US" altLang="en-US" b="1">
              <a:solidFill>
                <a:srgbClr val="FF0000"/>
              </a:solidFill>
            </a:endParaRPr>
          </a:p>
          <a:p>
            <a:pPr>
              <a:lnSpc>
                <a:spcPct val="150000"/>
              </a:lnSpc>
            </a:pPr>
            <a:r>
              <a:rPr lang="en-US" altLang="en-US"/>
              <a:t>High-value customers like Franti</a:t>
            </a:r>
            <a:r>
              <a:rPr lang="en-US" altLang="en-US"/>
              <a:t>š</a:t>
            </a:r>
            <a:r>
              <a:rPr lang="en-US" altLang="en-US"/>
              <a:t>ek Wichterlová should be targeted with personalized offers and loyalty programs to increase retention and lifetime value.</a:t>
            </a:r>
            <a:endParaRPr lang="en-US" altLang="en-US"/>
          </a:p>
          <a:p>
            <a:pPr>
              <a:lnSpc>
                <a:spcPct val="150000"/>
              </a:lnSpc>
            </a:pPr>
            <a:r>
              <a:rPr lang="en-US" altLang="en-US" b="1">
                <a:solidFill>
                  <a:srgbClr val="FF0000"/>
                </a:solidFill>
              </a:rPr>
              <a:t>Leverage Regional Insights</a:t>
            </a:r>
            <a:endParaRPr lang="en-US" altLang="en-US" b="1">
              <a:solidFill>
                <a:srgbClr val="FF0000"/>
              </a:solidFill>
            </a:endParaRPr>
          </a:p>
          <a:p>
            <a:pPr>
              <a:lnSpc>
                <a:spcPct val="150000"/>
              </a:lnSpc>
            </a:pPr>
            <a:r>
              <a:rPr lang="en-US" altLang="en-US"/>
              <a:t>Customer spending is concentrated, so focusing on top customers in each region can significantly improve revenue with minimal marketing effort.</a:t>
            </a:r>
            <a:endParaRPr lang="en-US" altLang="en-US"/>
          </a:p>
          <a:p>
            <a:pPr>
              <a:lnSpc>
                <a:spcPct val="150000"/>
              </a:lnSpc>
            </a:pPr>
            <a:r>
              <a:rPr lang="en-US" altLang="en-US" b="1">
                <a:solidFill>
                  <a:srgbClr val="FF0000"/>
                </a:solidFill>
              </a:rPr>
              <a:t>Test Market Diversification</a:t>
            </a:r>
            <a:endParaRPr lang="en-US" altLang="en-US" b="1">
              <a:solidFill>
                <a:srgbClr val="FF0000"/>
              </a:solidFill>
            </a:endParaRPr>
          </a:p>
          <a:p>
            <a:pPr>
              <a:lnSpc>
                <a:spcPct val="150000"/>
              </a:lnSpc>
            </a:pPr>
            <a:r>
              <a:rPr lang="en-US" altLang="en-US"/>
              <a:t>Use Argentina as a pilot market to experiment with Alternative &amp; Punk content before expanding diversified strategies globally.</a:t>
            </a:r>
            <a:endParaRPr lang="en-US" altLang="en-US"/>
          </a:p>
          <a:p>
            <a:pPr>
              <a:lnSpc>
                <a:spcPct val="150000"/>
              </a:lnSpc>
            </a:pPr>
            <a:r>
              <a:rPr lang="en-US" altLang="en-US" b="1">
                <a:solidFill>
                  <a:srgbClr val="FF0000"/>
                </a:solidFill>
              </a:rPr>
              <a:t>Replicate High-Value Sales Models</a:t>
            </a:r>
            <a:endParaRPr lang="en-US" altLang="en-US" b="1">
              <a:solidFill>
                <a:srgbClr val="FF0000"/>
              </a:solidFill>
            </a:endParaRPr>
          </a:p>
          <a:p>
            <a:pPr>
              <a:lnSpc>
                <a:spcPct val="150000"/>
              </a:lnSpc>
            </a:pPr>
            <a:r>
              <a:rPr lang="en-US" altLang="en-US"/>
              <a:t>Analyze Prague’s high average spending behavior and apply similar sales and marketing strategies in other regions to boost revenue quality.</a:t>
            </a:r>
            <a:endParaRPr lang="en-US" altLang="en-US"/>
          </a:p>
        </p:txBody>
      </p:sp>
      <p:sp>
        <p:nvSpPr>
          <p:cNvPr id="3" name="Text Box 2"/>
          <p:cNvSpPr txBox="1"/>
          <p:nvPr/>
        </p:nvSpPr>
        <p:spPr>
          <a:xfrm>
            <a:off x="624840" y="436880"/>
            <a:ext cx="9935845" cy="563880"/>
          </a:xfrm>
          <a:prstGeom prst="rect">
            <a:avLst/>
          </a:prstGeom>
        </p:spPr>
        <p:txBody>
          <a:bodyPr>
            <a:noAutofit/>
            <a:extLst>
              <a:ext uri="{4A0BC546-FE56-4ADE-93B0-CB8AF2F6F144}">
                <wpsdc:textFrameExt xmlns:wpsdc="http://www.wps.cn/officeDocument/2022/drawingmlCustomData" type="text"/>
              </a:ext>
            </a:extLst>
          </a:bodyPr>
          <a:p>
            <a:pPr algn="l"/>
            <a:r>
              <a:rPr lang="en-IN" sz="2400" b="1">
                <a:sym typeface="+mn-ea"/>
              </a:rPr>
              <a:t>Final business insights and </a:t>
            </a:r>
            <a:r>
              <a:rPr lang="en-IN" sz="2400" b="1">
                <a:solidFill>
                  <a:srgbClr val="E52328"/>
                </a:solidFill>
                <a:sym typeface="+mn-ea"/>
              </a:rPr>
              <a:t>recommendations</a:t>
            </a:r>
            <a:endParaRPr lang="en-IN" altLang="en-US" sz="2400" b="1">
              <a:solidFill>
                <a:srgbClr val="E52328"/>
              </a:solidFill>
              <a:latin typeface="Arial" panose="020B0604020202020204" pitchFamily="34" charset="0"/>
              <a:cs typeface="Arial" panose="020B0604020202020204" pitchFamily="34" charset="0"/>
              <a:sym typeface="+mn-ea"/>
            </a:endParaRPr>
          </a:p>
          <a:p>
            <a:pPr algn="l"/>
            <a:endParaRPr lang="en-US" sz="2400">
              <a:latin typeface="Arial" panose="020B0604020202020204" pitchFamily="34" charset="0"/>
              <a:ea typeface="Microsoft YaHei" panose="020B050302020402020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tretch>
            <a:fillRect/>
          </a:stretch>
        </p:blipFill>
        <p:spPr>
          <a:xfrm>
            <a:off x="2350770" y="1671320"/>
            <a:ext cx="7299325" cy="351472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75590" y="664845"/>
            <a:ext cx="7487920" cy="953135"/>
          </a:xfrm>
          <a:prstGeom prst="rect">
            <a:avLst/>
          </a:prstGeom>
          <a:noFill/>
        </p:spPr>
        <p:txBody>
          <a:bodyPr wrap="square" rtlCol="0">
            <a:spAutoFit/>
          </a:bodyPr>
          <a:p>
            <a:r>
              <a:rPr lang="en-IN" sz="2800" b="1">
                <a:sym typeface="+mn-ea"/>
              </a:rPr>
              <a:t>Experience/</a:t>
            </a:r>
            <a:r>
              <a:rPr lang="en-IN" sz="2800" b="1">
                <a:solidFill>
                  <a:srgbClr val="E52328"/>
                </a:solidFill>
                <a:sym typeface="+mn-ea"/>
              </a:rPr>
              <a:t>Challenges</a:t>
            </a:r>
            <a:r>
              <a:rPr lang="en-IN" sz="2800" b="1">
                <a:sym typeface="+mn-ea"/>
              </a:rPr>
              <a:t> </a:t>
            </a:r>
            <a:endParaRPr lang="en-IN" sz="2800" b="1" i="1">
              <a:solidFill>
                <a:srgbClr val="E52328"/>
              </a:solidFill>
              <a:sym typeface="+mn-ea"/>
            </a:endParaRPr>
          </a:p>
          <a:p>
            <a:endParaRPr lang="en-US" sz="2800"/>
          </a:p>
        </p:txBody>
      </p:sp>
      <p:sp>
        <p:nvSpPr>
          <p:cNvPr id="3" name="Text Box 2"/>
          <p:cNvSpPr txBox="1"/>
          <p:nvPr/>
        </p:nvSpPr>
        <p:spPr>
          <a:xfrm>
            <a:off x="445770" y="1486535"/>
            <a:ext cx="11050270" cy="3946525"/>
          </a:xfrm>
          <a:prstGeom prst="rect">
            <a:avLst/>
          </a:prstGeom>
          <a:noFill/>
        </p:spPr>
        <p:txBody>
          <a:bodyPr wrap="square" rtlCol="0">
            <a:noAutofit/>
          </a:bodyPr>
          <a:p>
            <a:pPr marL="285750" indent="-285750">
              <a:lnSpc>
                <a:spcPct val="200000"/>
              </a:lnSpc>
              <a:buFont typeface="Arial" panose="020B0604020202020204" pitchFamily="34" charset="0"/>
              <a:buChar char="•"/>
            </a:pPr>
            <a:r>
              <a:rPr lang="en-US" altLang="en-US" b="1"/>
              <a:t>Gained practical experience in designing, implementing, and populating an 11-table relational database, along with understanding the EER diagram using Primary Key and Foreign Key relationships.</a:t>
            </a:r>
            <a:endParaRPr lang="en-US" altLang="en-US" b="1"/>
          </a:p>
          <a:p>
            <a:pPr marL="285750" indent="-285750">
              <a:lnSpc>
                <a:spcPct val="200000"/>
              </a:lnSpc>
              <a:buFont typeface="Arial" panose="020B0604020202020204" pitchFamily="34" charset="0"/>
              <a:buChar char="•"/>
            </a:pPr>
            <a:r>
              <a:rPr lang="en-US" altLang="en-US" b="1"/>
              <a:t>One of the main challenges was writing and optimizing complex SQL queries that involved joining 4–6 tables to derive meaningful insights.</a:t>
            </a:r>
            <a:endParaRPr lang="en-US" altLang="en-US" b="1"/>
          </a:p>
          <a:p>
            <a:pPr marL="285750" indent="-285750">
              <a:lnSpc>
                <a:spcPct val="200000"/>
              </a:lnSpc>
              <a:buFont typeface="Arial" panose="020B0604020202020204" pitchFamily="34" charset="0"/>
              <a:buChar char="•"/>
            </a:pPr>
            <a:r>
              <a:rPr lang="en-US" altLang="en-US" b="1"/>
              <a:t>Utilized advanced SQL techniques such as Window Functions and CTEs to address complex business problems, including identifying the top customer and most popular genre for each country.</a:t>
            </a:r>
            <a:endParaRPr lang="en-US" altLang="en-US" b="1"/>
          </a:p>
          <a:p>
            <a:pPr marL="285750" indent="-285750">
              <a:lnSpc>
                <a:spcPct val="200000"/>
              </a:lnSpc>
              <a:buFont typeface="Arial" panose="020B0604020202020204" pitchFamily="34" charset="0"/>
              <a:buChar char="•"/>
            </a:pPr>
            <a:r>
              <a:rPr lang="en-US" altLang="en-US" b="1"/>
              <a:t>Initially faced difficulties with JOINs and subqueries, but improved understanding through consistent practice and solving different query scenarios.</a:t>
            </a:r>
            <a:endParaRPr lang="en-US" altLang="en-US" b="1"/>
          </a:p>
          <a:p>
            <a:pPr marL="285750" indent="-285750">
              <a:lnSpc>
                <a:spcPct val="200000"/>
              </a:lnSpc>
              <a:buFont typeface="Arial" panose="020B0604020202020204" pitchFamily="34" charset="0"/>
              <a:buChar char="•"/>
            </a:pPr>
            <a:r>
              <a:rPr lang="en-US" altLang="en-US" b="1"/>
              <a:t>Encountered real-world challenges while debugging aggregation logic and ensuring correct data formats during the data cleaning, transformation, and CSV loading process</a:t>
            </a:r>
            <a:r>
              <a:rPr lang="en-US" altLang="en-US"/>
              <a:t>.</a:t>
            </a:r>
            <a:endParaRPr lang="en-US"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15" name="Shape 115"/>
        <p:cNvGrpSpPr/>
        <p:nvPr/>
      </p:nvGrpSpPr>
      <p:grpSpPr>
        <a:xfrm>
          <a:off x="0" y="0"/>
          <a:ext cx="0" cy="0"/>
          <a:chOff x="0" y="0"/>
          <a:chExt cx="0" cy="0"/>
        </a:xfrm>
      </p:grpSpPr>
      <p:pic>
        <p:nvPicPr>
          <p:cNvPr id="116" name="Google Shape;116;p5"/>
          <p:cNvPicPr preferRelativeResize="0"/>
          <p:nvPr/>
        </p:nvPicPr>
        <p:blipFill rotWithShape="1">
          <a:blip r:embed="rId1"/>
          <a:srcRect/>
          <a:stretch>
            <a:fill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panose="02000000000000000000"/>
              <a:buNone/>
            </a:pPr>
            <a:r>
              <a:rPr lang="en-IN" sz="4400" b="0" i="0" u="none" strike="noStrike" cap="none">
                <a:solidFill>
                  <a:srgbClr val="C00000"/>
                </a:solidFill>
                <a:latin typeface="Libre Baskerville" panose="02000000000000000000"/>
                <a:ea typeface="Libre Baskerville" panose="02000000000000000000"/>
                <a:cs typeface="Libre Baskerville" panose="02000000000000000000"/>
                <a:sym typeface="Libre Baskerville" panose="02000000000000000000"/>
              </a:rPr>
              <a:t>THANK YOU</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8184</Words>
  <Application>WPS Presentation</Application>
  <PresentationFormat/>
  <Paragraphs>153</Paragraphs>
  <Slides>15</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15</vt:i4>
      </vt:variant>
    </vt:vector>
  </HeadingPairs>
  <TitlesOfParts>
    <vt:vector size="29" baseType="lpstr">
      <vt:lpstr>Arial</vt:lpstr>
      <vt:lpstr>SimSun</vt:lpstr>
      <vt:lpstr>Wingdings</vt:lpstr>
      <vt:lpstr>Arial</vt:lpstr>
      <vt:lpstr>Calibri</vt:lpstr>
      <vt:lpstr>Algerian</vt:lpstr>
      <vt:lpstr>Malgun Gothic</vt:lpstr>
      <vt:lpstr>Microsoft YaHei</vt:lpstr>
      <vt:lpstr>Bahnschrift SemiLight</vt:lpstr>
      <vt:lpstr>Ebrima</vt:lpstr>
      <vt:lpstr>Wingdings</vt:lpstr>
      <vt:lpstr>Libre Baskerville</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Raghu Ram Aduri</dc:creator>
  <cp:lastModifiedBy>Bevara Harika</cp:lastModifiedBy>
  <cp:revision>4</cp:revision>
  <dcterms:created xsi:type="dcterms:W3CDTF">2026-03-30T16:54:00Z</dcterms:created>
  <dcterms:modified xsi:type="dcterms:W3CDTF">2026-03-30T17:04:11Z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1033-12.1.0.25242</vt:lpwstr>
  </property>
  <property fmtid="{D5CDD505-2E9C-101B-9397-08002B2CF9AE}" pid="3" name="ICV">
    <vt:lpwstr>A0F2C963E900458F90FA14B6864F740E_13</vt:lpwstr>
  </property>
</Properties>
</file>